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Rajdhani SemiBold"/>
      <p:regular r:id="rId21"/>
      <p:bold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Poppins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Rajdhani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jdhaniSemiBold-bold.fntdata"/><Relationship Id="rId21" Type="http://schemas.openxmlformats.org/officeDocument/2006/relationships/font" Target="fonts/RajdhaniSemiBold-regular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35" Type="http://schemas.openxmlformats.org/officeDocument/2006/relationships/font" Target="fonts/Rajdhani-regular.fntdata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ajdhani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80335b77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f80335b77e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80335b77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f80335b77e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11" Type="http://schemas.openxmlformats.org/officeDocument/2006/relationships/image" Target="../media/image3.png"/><Relationship Id="rId10" Type="http://schemas.openxmlformats.org/officeDocument/2006/relationships/image" Target="../media/image5.png"/><Relationship Id="rId9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11" Type="http://schemas.openxmlformats.org/officeDocument/2006/relationships/image" Target="../media/image35.png"/><Relationship Id="rId10" Type="http://schemas.openxmlformats.org/officeDocument/2006/relationships/image" Target="../media/image30.png"/><Relationship Id="rId9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19.png"/><Relationship Id="rId7" Type="http://schemas.openxmlformats.org/officeDocument/2006/relationships/image" Target="../media/image28.png"/><Relationship Id="rId8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31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32.png"/><Relationship Id="rId6" Type="http://schemas.openxmlformats.org/officeDocument/2006/relationships/image" Target="../media/image37.png"/><Relationship Id="rId7" Type="http://schemas.openxmlformats.org/officeDocument/2006/relationships/image" Target="../media/image43.png"/><Relationship Id="rId8" Type="http://schemas.openxmlformats.org/officeDocument/2006/relationships/image" Target="../media/image4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4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Relationship Id="rId4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34.png"/><Relationship Id="rId9" Type="http://schemas.openxmlformats.org/officeDocument/2006/relationships/image" Target="../media/image47.png"/><Relationship Id="rId5" Type="http://schemas.openxmlformats.org/officeDocument/2006/relationships/image" Target="../media/image33.png"/><Relationship Id="rId6" Type="http://schemas.openxmlformats.org/officeDocument/2006/relationships/image" Target="../media/image38.png"/><Relationship Id="rId7" Type="http://schemas.openxmlformats.org/officeDocument/2006/relationships/image" Target="../media/image45.png"/><Relationship Id="rId8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4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30529" y="1817340"/>
            <a:ext cx="75309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J.A.R.V.I.S. 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509837" y="3893790"/>
            <a:ext cx="71723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Advanced Python-Powered Virtual Assistant &amp; Local AI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509837" y="4735710"/>
            <a:ext cx="7172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Rajdhani"/>
                <a:ea typeface="Rajdhani"/>
                <a:cs typeface="Rajdhani"/>
                <a:sym typeface="Rajdhani"/>
              </a:rPr>
              <a:t>Developed by Arpit Tripathi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https://share.gemini.google/MeDtFS6jJI1e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9465" y="1143000"/>
            <a:ext cx="4221509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138487"/>
            <a:ext cx="6332190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1214437"/>
            <a:ext cx="66489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6750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J.A.R.V.I.S.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914400" y="3424237"/>
            <a:ext cx="59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0F6FC"/>
                </a:solidFill>
                <a:latin typeface="Poppins"/>
                <a:ea typeface="Poppins"/>
                <a:cs typeface="Poppins"/>
                <a:sym typeface="Poppins"/>
              </a:rPr>
              <a:t>Arpit Tripathi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14400" y="3976687"/>
            <a:ext cx="571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58A6FF"/>
                </a:solidFill>
                <a:latin typeface="Lato"/>
                <a:ea typeface="Lato"/>
                <a:cs typeface="Lato"/>
                <a:sym typeface="Lato"/>
              </a:rPr>
              <a:t>CSE B.Tech III Year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4281487"/>
            <a:ext cx="571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Roll No: 2401220100075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14400" y="4586287"/>
            <a:ext cx="571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Email: Arpittripathi4115@gmail.com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4986337"/>
            <a:ext cx="571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Lato"/>
                <a:ea typeface="Lato"/>
                <a:cs typeface="Lato"/>
                <a:sym typeface="Lato"/>
              </a:rPr>
              <a:t>Shri Ramswaroop Memorial College of Engineering &amp;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4" title="Arpit_Tripathi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4638" y="2357425"/>
            <a:ext cx="1800225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62000" y="1714500"/>
            <a:ext cx="530066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WHAT IS J.A.R.V.I.S?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253365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J.A.R.V.I.S is a locally hosted, open-source personal automation bot designed to bridge the gap between human intent and machine execution.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3686175"/>
            <a:ext cx="50482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Unlike cloud-dependent assistants, it operates securely on your desktop, leveraging local LLMs and computer vision to perform highly complex OS-level tasks without compromising your privacy.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4629"/>
            <a:ext cx="3429000" cy="3855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034629"/>
            <a:ext cx="3429000" cy="3855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034629"/>
            <a:ext cx="3429000" cy="3855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05000" y="242515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95813" y="3425279"/>
            <a:ext cx="298037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Core Engine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66775" y="3853904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Built entirely in Python. Utilizes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speech_recognition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capturing audio logic and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pyttsx3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(SAPI5) for low-latency, offline text-to-speech synthesis.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0" y="242515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4605813" y="3425279"/>
            <a:ext cx="298037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AI Brain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76775" y="3853904"/>
            <a:ext cx="283845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Powered by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Ollama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Integrates advanced Large Language Models like Phi-3 and Llama-3 locally, enabling intelligent, conversational decision-making without API costs.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0" y="242515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415813" y="3425279"/>
            <a:ext cx="298037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Computer Vision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86775" y="3853904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Leverages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OpenCV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Google's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MediaPipe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real-time hand tracking, alongside the LLaVA vision model for optical image processing and understanding.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33600" y="2634704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24550" y="2634704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10737" y="2634704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TECHNOLOGY STACK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574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57250" y="17526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Conversational Memory: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Maintains context by logging interaction history in JSON, allowing for continuous, human-like dialogue across sessions.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57250" y="28575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Optical Processing: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Integrates multimodal LLMs (LLaVA) via a custom '/look' command to visually analyze user-provided images.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57250" y="39624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Retrieval: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Dynamically scrapes real-time data using BeautifulSoup, Wikipedia APIs, and WolframAlpha computational engines.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57250" y="50673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Persona Management: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Operates strictly under a highly logical, mentor-like persona, offering precise technical guidance to the user.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6692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1800225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2905125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4010025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5114925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INTELLIGENT CAPABILITIES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8939"/>
            <a:ext cx="5238750" cy="3946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8939"/>
            <a:ext cx="5238750" cy="394692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962025" y="2379464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OS Automation Module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962025" y="2865239"/>
            <a:ext cx="4457700" cy="95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962025" y="3065264"/>
            <a:ext cx="44577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J.A.R.V.I.S seamlessly handles system-level operations. It can dynamically adjust screen brightness, execute speed tests, take screenshots, and manage application lifecycles (opening/force-killing browsers, IDEs, and media players).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62025" y="4579590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also monitors battery percentages and CPU utilization in real-time, issuing warnings during critical power states.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772275" y="2379464"/>
            <a:ext cx="468058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Health Command Center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6772275" y="2865239"/>
            <a:ext cx="4457700" cy="95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772275" y="3065264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Designed for prolonged coding sessions, this module calculates BMI, analyzes blood pressure inputs, and computes optimal daily water intake.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772275" y="4031009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features a live lung capacity breath-hold test, heart rate tracking, and enforces the 20-20-20 eye strain rule to prioritize developer wellness.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SYSTEM &amp; HEALTH MANAGEMENT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1125" y="2152650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6381750" y="2527101"/>
            <a:ext cx="5500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Touchless Interaction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381750" y="3012876"/>
            <a:ext cx="52387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visual control interface transforms how the user interacts with the machine. Using a webcam, J.A.R.V.I.S processes RGB frames through MediaPipe's hand landmark detection models.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381750" y="4026247"/>
            <a:ext cx="52387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calculating the mathematical hypotenuse between the thumb tip (Landmark 4) and index finger tip (Landmark 8), it maps physical distance to system master volume levels in real-time using `pycaw`, offering a seamless, futuristic control mechanism.</a:t>
            </a:r>
            <a:endParaRPr/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19225" y="2190750"/>
            <a:ext cx="354330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KINETIC GESTURE CONTROL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0364"/>
            <a:ext cx="3429000" cy="4004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1960364"/>
            <a:ext cx="3429000" cy="4004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960364"/>
            <a:ext cx="3429000" cy="4004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160389"/>
            <a:ext cx="30289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1525" y="2160389"/>
            <a:ext cx="30289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91525" y="2160389"/>
            <a:ext cx="302895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695801" y="4446389"/>
            <a:ext cx="318039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Developer Productivity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771525" y="4789289"/>
            <a:ext cx="30289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Automates repetitive tasks, tracks late-night sleep cycles, manages window states, and reads PDF documentation aloud while the user codes.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4505801" y="4446389"/>
            <a:ext cx="318039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Hands-Free Accessibility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581525" y="4789289"/>
            <a:ext cx="30289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Allows users to send WhatsApp messages, compose emails with attachments, and navigate the web entirely through voice commands.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8315801" y="4446389"/>
            <a:ext cx="318039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Daily Utility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391525" y="4789289"/>
            <a:ext cx="30289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Fetches real-time weather, locates IP-based geographical coordinates, solves complex math via WolframAlpha, and manages multimedia.</a:t>
            </a:r>
            <a:endParaRPr/>
          </a:p>
        </p:txBody>
      </p:sp>
      <p:pic>
        <p:nvPicPr>
          <p:cNvPr descr="image.png" id="197" name="Google Shape;19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2160389"/>
            <a:ext cx="30289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81525" y="2160389"/>
            <a:ext cx="30289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91525" y="2160389"/>
            <a:ext cx="302895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PRIMARY USE CASES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/>
          <p:nvPr/>
        </p:nvSpPr>
        <p:spPr>
          <a:xfrm>
            <a:off x="1333500" y="1638300"/>
            <a:ext cx="9525000" cy="1457027"/>
          </a:xfrm>
          <a:prstGeom prst="roundRect">
            <a:avLst>
              <a:gd fmla="val 78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2095500" y="1876425"/>
            <a:ext cx="8524875" cy="980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Absolute Privacy &amp; Security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Because it runs local LLMs (Ollama) and offline speech engines (SAPI5), sensitive user data and ambient conversations never leave the local machine.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1333500" y="3285827"/>
            <a:ext cx="9525000" cy="1457027"/>
          </a:xfrm>
          <a:prstGeom prst="roundRect">
            <a:avLst>
              <a:gd fmla="val 78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2095500" y="3523952"/>
            <a:ext cx="8524875" cy="980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Low Latency Execution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Bypassing cloud API round-trips for core system commands ensures immediate execution for tasks like minimizing windows or adjusting brightness.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1333500" y="4933354"/>
            <a:ext cx="9525000" cy="1457027"/>
          </a:xfrm>
          <a:prstGeom prst="roundRect">
            <a:avLst>
              <a:gd fmla="val 78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2095500" y="5171479"/>
            <a:ext cx="8524875" cy="980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High Extensibility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modular Python architecture allows rapid integration of new libraries, meaning J.A.R.V.I.S can be continuously taught new skills and custom scripts.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1333500" y="6580882"/>
            <a:ext cx="9525000" cy="1457027"/>
          </a:xfrm>
          <a:prstGeom prst="roundRect">
            <a:avLst>
              <a:gd fmla="val 78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2095500" y="6819007"/>
            <a:ext cx="8524875" cy="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Intelligent Standby Mode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conserve system resources and microphone usage, the system features a silence-detection algorithm that automatically enters a low-power hibernation state.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1333500" y="3085802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1333500" y="4733329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1333500" y="6380857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1333500" y="8028384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1150" y="188118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1150" y="3528714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81150" y="5176242"/>
            <a:ext cx="3619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81150" y="6823769"/>
            <a:ext cx="32385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SYSTEM ADVANTAGES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29100"/>
            <a:ext cx="11049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81525"/>
            <a:ext cx="254124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07419" y="2352675"/>
            <a:ext cx="254124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3339" y="4581525"/>
            <a:ext cx="254124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79259" y="2124075"/>
            <a:ext cx="254124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667988" y="4733925"/>
            <a:ext cx="234826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B82F6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1. Trigger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723900" y="5076825"/>
            <a:ext cx="2236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Background ambient noise monitoring detects wake words ("Jarvis", "Arpit this side") to break the standby loop.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3503908" y="2505075"/>
            <a:ext cx="234826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B82F6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2. Recognition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3559819" y="2847975"/>
            <a:ext cx="2236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Google Speech API captures the audio stream, resolving the verbal input into a machine-readable text string.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6339828" y="4733925"/>
            <a:ext cx="234826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B82F6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3. Processing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6395739" y="5076825"/>
            <a:ext cx="2236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brain parses intent via regex for hardcoded OS commands, or routes complex queries to the local Ollama LLM node.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9175748" y="2276475"/>
            <a:ext cx="234826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B82F6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4. Execution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9231659" y="2619375"/>
            <a:ext cx="22364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action is performed (API call, automation, or text generation) and the result is delivered via the offline SAPI5 TTS engine.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1727820" y="41338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4563740" y="41338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7399659" y="41338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10235579" y="41338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EXECUTION PIPELINE</a:t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1809750" y="5640734"/>
            <a:ext cx="8572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codebase is heavily weighted towards robust local execution, prioritizing OS-level automation and local Natural Language Understanding over external web dependencies.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ARCHITECTURE DISTRIBUTION</a:t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849040"/>
            <a:ext cx="8572500" cy="315991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2105501" y="2334815"/>
            <a:ext cx="7980997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Future Enhancements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2295525" y="3182540"/>
            <a:ext cx="76009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next iteration aims to integrate IoT protocols to command smart home devices locally, implement a robust Vector Database (like ChromaDB) for infinite contextual memory, and deploy asynchronous multi-threading to allow Jarvis to run background tasks while maintaining conversation.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/>
          <p:nvPr/>
        </p:nvSpPr>
        <p:spPr>
          <a:xfrm>
            <a:off x="571500" y="163830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71500" y="262116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71500" y="340593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71500" y="419070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4975473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71500" y="26116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71500" y="26116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571500" y="33964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71500" y="33964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571500" y="41811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71500" y="41811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71500" y="49659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71500" y="49659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571500" y="59488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571500" y="59488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6" name="Google Shape;28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868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1666875" y="178117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https://img.freepik.com/premium-photo/creative-circuit-brain-hologram-dark-background-ai-artificial-intelligence-machine-learning-neurology-concept-3d-rendering_670147-29142.jpg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1666875" y="222498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www.magnific.com</a:t>
            </a:r>
            <a:endParaRPr/>
          </a:p>
        </p:txBody>
      </p:sp>
      <p:pic>
        <p:nvPicPr>
          <p:cNvPr descr="image.png" id="289" name="Google Shape;28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705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1666875" y="276403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https://png.pngtree.com/background/20250519/original/pngtree-high-tech-digital-interface-design-with-glowing-blue-hud-graphics-in-picture-image_16540215.jpg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1666875" y="300975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292" name="Google Shape;29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55355"/>
            <a:ext cx="1104900" cy="82287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1666875" y="354880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https://news.mit.edu/sites/default/files/images/202603/MIT-Hand-Tracker-01-press.jpg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1666875" y="379452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news.mit.edu</a:t>
            </a:r>
            <a:endParaRPr/>
          </a:p>
        </p:txBody>
      </p:sp>
      <p:pic>
        <p:nvPicPr>
          <p:cNvPr descr="image.png" id="295" name="Google Shape;29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40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1666875" y="433357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https://images.stockcake.com/public/0/a/e/0ae4f5cb-b728-48f1-9795-7abcd2ee6838_medium/coding-through-night-stockcake.jpg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1666875" y="457929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pic>
        <p:nvPicPr>
          <p:cNvPr descr="image.png" id="298" name="Google Shape;29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22401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5"/>
          <p:cNvSpPr txBox="1"/>
          <p:nvPr/>
        </p:nvSpPr>
        <p:spPr>
          <a:xfrm>
            <a:off x="1666875" y="511834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https://media.istockphoto.com/id/2223442865/photo/sales-man-and-consulting-support-or-advice-with-headset-and-laptop.jpg?s=612x612&amp;w=0&amp;k=20&amp;c=gF23PFsmsEBHVOQBRaznINj4wvC5ii4sm1S7hD4ALSs=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1666875" y="556215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301" name="Google Shape;301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6107757"/>
            <a:ext cx="1733550" cy="54858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5"/>
          <p:cNvSpPr txBox="1"/>
          <p:nvPr/>
        </p:nvSpPr>
        <p:spPr>
          <a:xfrm>
            <a:off x="1666875" y="610120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https://cdn.mos.cms.futurecdn.net/8PBJwkj2W5Pxtx9yBgQVLD.jpg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1666875" y="634692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www.tomsguide.com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IMAGE SOURCES</a:t>
            </a:r>
            <a:endParaRPr/>
          </a:p>
        </p:txBody>
      </p:sp>
      <p:sp>
        <p:nvSpPr>
          <p:cNvPr id="305" name="Google Shape;305;p25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0" name="Google Shape;31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242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6"/>
          <p:cNvSpPr txBox="1"/>
          <p:nvPr/>
        </p:nvSpPr>
        <p:spPr>
          <a:xfrm>
            <a:off x="1666875" y="361860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d3njjcbhbojbot.cloudfront.net/api/utilities/v1/imageproxy/https://images.ctfassets.net/wp1lcwdav1p1/60KJr8r2gddr7nEMjJhpZO/7c4e17393b5c406982c6db62303e3d21/iStock-543677910.jpg?w=1500&amp;h=680&amp;q=60&amp;fit=fill&amp;f=faces&amp;fm=jpg&amp;fl=progressive&amp;auto=format%2Ccompress&amp;dpr=1&amp;w=1000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1666875" y="406241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www.coursera.org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571500" y="57150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IMAGE SOURCES</a:t>
            </a:r>
            <a:endParaRPr/>
          </a:p>
        </p:txBody>
      </p:sp>
      <p:sp>
        <p:nvSpPr>
          <p:cNvPr id="315" name="Google Shape;315;p26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0" name="Google Shape;32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7"/>
          <p:cNvSpPr txBox="1"/>
          <p:nvPr/>
        </p:nvSpPr>
        <p:spPr>
          <a:xfrm>
            <a:off x="3855719" y="2064097"/>
            <a:ext cx="44805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THANK YOU</a:t>
            </a: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4714875" y="3197572"/>
            <a:ext cx="276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 Your Time &amp; Attention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3962400" y="4039492"/>
            <a:ext cx="42672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Rajdhani SemiBold"/>
                <a:ea typeface="Rajdhani SemiBold"/>
                <a:cs typeface="Rajdhani SemiBold"/>
                <a:sym typeface="Rajdhani SemiBold"/>
              </a:rPr>
              <a:t>J.A.R.V.I.S - Internship Project Presentation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10B981"/>
                </a:solidFill>
                <a:latin typeface="Rajdhani"/>
                <a:ea typeface="Rajdhani"/>
                <a:cs typeface="Rajdhani"/>
                <a:sym typeface="Rajdhani"/>
              </a:rPr>
              <a:t> Developed by Arpit Tripathi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