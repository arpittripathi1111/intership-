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Poppins"/>
      <p:regular r:id="rId36"/>
      <p:bold r:id="rId37"/>
      <p:italic r:id="rId38"/>
      <p:boldItalic r:id="rId39"/>
    </p:embeddedFont>
    <p:embeddedFont>
      <p:font typeface="Inter"/>
      <p:regular r:id="rId40"/>
      <p:bold r:id="rId41"/>
      <p:italic r:id="rId42"/>
      <p:boldItalic r:id="rId43"/>
    </p:embeddedFont>
    <p:embeddedFont>
      <p:font typeface="Lato"/>
      <p:regular r:id="rId44"/>
      <p:bold r:id="rId45"/>
      <p:italic r:id="rId46"/>
      <p:boldItalic r:id="rId47"/>
    </p:embeddedFont>
    <p:embeddedFont>
      <p:font typeface="Rajdhani"/>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42" Type="http://schemas.openxmlformats.org/officeDocument/2006/relationships/font" Target="fonts/Inter-italic.fntdata"/><Relationship Id="rId41" Type="http://schemas.openxmlformats.org/officeDocument/2006/relationships/font" Target="fonts/Inter-bold.fntdata"/><Relationship Id="rId44" Type="http://schemas.openxmlformats.org/officeDocument/2006/relationships/font" Target="fonts/Lato-regular.fntdata"/><Relationship Id="rId43" Type="http://schemas.openxmlformats.org/officeDocument/2006/relationships/font" Target="fonts/Inter-boldItalic.fntdata"/><Relationship Id="rId46" Type="http://schemas.openxmlformats.org/officeDocument/2006/relationships/font" Target="fonts/Lato-italic.fntdata"/><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jdhani-regular.fntdata"/><Relationship Id="rId47" Type="http://schemas.openxmlformats.org/officeDocument/2006/relationships/font" Target="fonts/Lato-boldItalic.fntdata"/><Relationship Id="rId49" Type="http://schemas.openxmlformats.org/officeDocument/2006/relationships/font" Target="fonts/Rajdhani-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oppins-bold.fntdata"/><Relationship Id="rId36" Type="http://schemas.openxmlformats.org/officeDocument/2006/relationships/font" Target="fonts/Poppins-regular.fntdata"/><Relationship Id="rId39" Type="http://schemas.openxmlformats.org/officeDocument/2006/relationships/font" Target="fonts/Poppins-boldItalic.fntdata"/><Relationship Id="rId38" Type="http://schemas.openxmlformats.org/officeDocument/2006/relationships/font" Target="fonts/Poppi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4e0ace1c9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f4e0ace1c9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4e0ace1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f4e0ace1c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1.png"/><Relationship Id="rId10" Type="http://schemas.openxmlformats.org/officeDocument/2006/relationships/image" Target="../media/image14.png"/><Relationship Id="rId9"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1.png"/><Relationship Id="rId10" Type="http://schemas.openxmlformats.org/officeDocument/2006/relationships/image" Target="../media/image12.png"/><Relationship Id="rId9"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 Id="rId10" Type="http://schemas.openxmlformats.org/officeDocument/2006/relationships/image" Target="../media/image30.png"/><Relationship Id="rId9"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8.pn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8.png"/><Relationship Id="rId5"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6.png"/><Relationship Id="rId5"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37.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1.png"/><Relationship Id="rId10" Type="http://schemas.openxmlformats.org/officeDocument/2006/relationships/image" Target="../media/image14.png"/><Relationship Id="rId9" Type="http://schemas.openxmlformats.org/officeDocument/2006/relationships/image" Target="../media/image20.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28.png"/><Relationship Id="rId5"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image" Target="../media/image36.png"/><Relationship Id="rId8"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46.png"/><Relationship Id="rId9"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595562" y="2190005"/>
            <a:ext cx="7000800" cy="831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5400">
                <a:solidFill>
                  <a:srgbClr val="F8FAFC"/>
                </a:solidFill>
                <a:latin typeface="Poppins"/>
                <a:ea typeface="Poppins"/>
                <a:cs typeface="Poppins"/>
                <a:sym typeface="Poppins"/>
              </a:rPr>
              <a:t>  </a:t>
            </a:r>
            <a:r>
              <a:rPr b="1" i="0" lang="en-US" sz="5400" u="none" cap="none" strike="noStrike">
                <a:solidFill>
                  <a:srgbClr val="F8FAFC"/>
                </a:solidFill>
                <a:latin typeface="Poppins"/>
                <a:ea typeface="Poppins"/>
                <a:cs typeface="Poppins"/>
                <a:sym typeface="Poppins"/>
              </a:rPr>
              <a:t>AI &amp; ML</a:t>
            </a:r>
            <a:r>
              <a:rPr lang="en-US" sz="1800">
                <a:solidFill>
                  <a:schemeClr val="dk1"/>
                </a:solidFill>
                <a:latin typeface="Calibri"/>
                <a:ea typeface="Calibri"/>
                <a:cs typeface="Calibri"/>
                <a:sym typeface="Calibri"/>
              </a:rPr>
              <a:t>  </a:t>
            </a:r>
            <a:r>
              <a:rPr b="1" i="0" lang="en-US" sz="5400" u="none" cap="none" strike="noStrike">
                <a:solidFill>
                  <a:srgbClr val="F8FAFC"/>
                </a:solidFill>
                <a:latin typeface="Poppins"/>
                <a:ea typeface="Poppins"/>
                <a:cs typeface="Poppins"/>
                <a:sym typeface="Poppins"/>
              </a:rPr>
              <a:t>Internship </a:t>
            </a:r>
            <a:endParaRPr/>
          </a:p>
        </p:txBody>
      </p:sp>
      <p:sp>
        <p:nvSpPr>
          <p:cNvPr id="86" name="Google Shape;86;p13"/>
          <p:cNvSpPr txBox="1"/>
          <p:nvPr/>
        </p:nvSpPr>
        <p:spPr>
          <a:xfrm>
            <a:off x="2286000" y="3936652"/>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A Comprehensive Overview of Python, Machine Learning, Data Analytics, and Capstone AI Development.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7389465" y="1143000"/>
            <a:ext cx="4221509" cy="4572000"/>
          </a:xfrm>
          <a:prstGeom prst="rect">
            <a:avLst/>
          </a:prstGeom>
          <a:noFill/>
          <a:ln>
            <a:noFill/>
          </a:ln>
        </p:spPr>
      </p:pic>
      <p:pic>
        <p:nvPicPr>
          <p:cNvPr descr="image.png" id="93" name="Google Shape;93;p14"/>
          <p:cNvPicPr preferRelativeResize="0"/>
          <p:nvPr/>
        </p:nvPicPr>
        <p:blipFill rotWithShape="1">
          <a:blip r:embed="rId5">
            <a:alphaModFix/>
          </a:blip>
          <a:srcRect b="0" l="0" r="0" t="0"/>
          <a:stretch/>
        </p:blipFill>
        <p:spPr>
          <a:xfrm>
            <a:off x="581025" y="3138487"/>
            <a:ext cx="6332190" cy="2505075"/>
          </a:xfrm>
          <a:prstGeom prst="rect">
            <a:avLst/>
          </a:prstGeom>
          <a:noFill/>
          <a:ln>
            <a:noFill/>
          </a:ln>
        </p:spPr>
      </p:pic>
      <p:sp>
        <p:nvSpPr>
          <p:cNvPr id="94" name="Google Shape;94;p14"/>
          <p:cNvSpPr txBox="1"/>
          <p:nvPr/>
        </p:nvSpPr>
        <p:spPr>
          <a:xfrm>
            <a:off x="581025" y="1214425"/>
            <a:ext cx="7193400" cy="8313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dk1"/>
              </a:buClr>
              <a:buFont typeface="Arial"/>
              <a:buNone/>
            </a:pPr>
            <a:r>
              <a:rPr b="1" lang="en-US" sz="5400">
                <a:solidFill>
                  <a:srgbClr val="F8FAFC"/>
                </a:solidFill>
                <a:latin typeface="Poppins"/>
                <a:ea typeface="Poppins"/>
                <a:cs typeface="Poppins"/>
                <a:sym typeface="Poppins"/>
              </a:rPr>
              <a:t>AI&amp;ML Internship</a:t>
            </a:r>
            <a:endParaRPr b="0" i="0" sz="1400" u="none" cap="none" strike="noStrike">
              <a:solidFill>
                <a:srgbClr val="000000"/>
              </a:solidFill>
              <a:latin typeface="Arial"/>
              <a:ea typeface="Arial"/>
              <a:cs typeface="Arial"/>
              <a:sym typeface="Arial"/>
            </a:endParaRPr>
          </a:p>
        </p:txBody>
      </p:sp>
      <p:sp>
        <p:nvSpPr>
          <p:cNvPr id="95" name="Google Shape;95;p14"/>
          <p:cNvSpPr txBox="1"/>
          <p:nvPr/>
        </p:nvSpPr>
        <p:spPr>
          <a:xfrm>
            <a:off x="914400" y="3424237"/>
            <a:ext cx="5998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0F6FC"/>
                </a:solidFill>
                <a:latin typeface="Poppins"/>
                <a:ea typeface="Poppins"/>
                <a:cs typeface="Poppins"/>
                <a:sym typeface="Poppins"/>
              </a:rPr>
              <a:t>Arpit Tripathi</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914400" y="3976687"/>
            <a:ext cx="57132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1" i="0" lang="en-US" sz="1350" u="none" cap="none" strike="noStrike">
                <a:solidFill>
                  <a:srgbClr val="58A6FF"/>
                </a:solidFill>
                <a:latin typeface="Lato"/>
                <a:ea typeface="Lato"/>
                <a:cs typeface="Lato"/>
                <a:sym typeface="Lato"/>
              </a:rPr>
              <a:t>CSE B.Tech III Year</a:t>
            </a:r>
            <a:endParaRPr b="0" i="0" sz="1400" u="none" cap="none" strike="noStrike">
              <a:solidFill>
                <a:srgbClr val="000000"/>
              </a:solidFill>
              <a:latin typeface="Arial"/>
              <a:ea typeface="Arial"/>
              <a:cs typeface="Arial"/>
              <a:sym typeface="Arial"/>
            </a:endParaRPr>
          </a:p>
        </p:txBody>
      </p:sp>
      <p:sp>
        <p:nvSpPr>
          <p:cNvPr id="97" name="Google Shape;97;p14"/>
          <p:cNvSpPr txBox="1"/>
          <p:nvPr/>
        </p:nvSpPr>
        <p:spPr>
          <a:xfrm>
            <a:off x="914400" y="4281487"/>
            <a:ext cx="57132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8B949E"/>
                </a:solidFill>
                <a:latin typeface="Lato"/>
                <a:ea typeface="Lato"/>
                <a:cs typeface="Lato"/>
                <a:sym typeface="Lato"/>
              </a:rPr>
              <a:t>Roll No: 2401220100075</a:t>
            </a:r>
            <a:endParaRPr b="0" i="0" sz="1400" u="none" cap="none" strike="noStrike">
              <a:solidFill>
                <a:srgbClr val="000000"/>
              </a:solidFill>
              <a:latin typeface="Arial"/>
              <a:ea typeface="Arial"/>
              <a:cs typeface="Arial"/>
              <a:sym typeface="Arial"/>
            </a:endParaRPr>
          </a:p>
        </p:txBody>
      </p:sp>
      <p:sp>
        <p:nvSpPr>
          <p:cNvPr id="98" name="Google Shape;98;p14"/>
          <p:cNvSpPr txBox="1"/>
          <p:nvPr/>
        </p:nvSpPr>
        <p:spPr>
          <a:xfrm>
            <a:off x="914400" y="4586287"/>
            <a:ext cx="57132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350"/>
              <a:buFont typeface="Arial"/>
              <a:buNone/>
            </a:pPr>
            <a:r>
              <a:rPr b="0" i="0" lang="en-US" sz="1350" u="none" cap="none" strike="noStrike">
                <a:solidFill>
                  <a:srgbClr val="8B949E"/>
                </a:solidFill>
                <a:latin typeface="Lato"/>
                <a:ea typeface="Lato"/>
                <a:cs typeface="Lato"/>
                <a:sym typeface="Lato"/>
              </a:rPr>
              <a:t>Email: Arpittripathi4115@gmail.com</a:t>
            </a:r>
            <a:endParaRPr b="0" i="0" sz="1400" u="none" cap="none" strike="noStrike">
              <a:solidFill>
                <a:srgbClr val="000000"/>
              </a:solidFill>
              <a:latin typeface="Arial"/>
              <a:ea typeface="Arial"/>
              <a:cs typeface="Arial"/>
              <a:sym typeface="Arial"/>
            </a:endParaRPr>
          </a:p>
        </p:txBody>
      </p:sp>
      <p:sp>
        <p:nvSpPr>
          <p:cNvPr id="99" name="Google Shape;99;p14"/>
          <p:cNvSpPr txBox="1"/>
          <p:nvPr/>
        </p:nvSpPr>
        <p:spPr>
          <a:xfrm>
            <a:off x="914400" y="4986337"/>
            <a:ext cx="57132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200"/>
              <a:buFont typeface="Arial"/>
              <a:buNone/>
            </a:pPr>
            <a:r>
              <a:rPr b="0" i="0" lang="en-US" sz="1200" u="none" cap="none" strike="noStrike">
                <a:solidFill>
                  <a:srgbClr val="8B949E"/>
                </a:solidFill>
                <a:latin typeface="Lato"/>
                <a:ea typeface="Lato"/>
                <a:cs typeface="Lato"/>
                <a:sym typeface="Lato"/>
              </a:rPr>
              <a:t>Shri Ramswaroop Memorial College of Engineering &amp; Management</a:t>
            </a:r>
            <a:endParaRPr b="0" i="0" sz="1400" u="none" cap="none" strike="noStrike">
              <a:solidFill>
                <a:srgbClr val="000000"/>
              </a:solidFill>
              <a:latin typeface="Arial"/>
              <a:ea typeface="Arial"/>
              <a:cs typeface="Arial"/>
              <a:sym typeface="Arial"/>
            </a:endParaRPr>
          </a:p>
        </p:txBody>
      </p:sp>
      <p:pic>
        <p:nvPicPr>
          <p:cNvPr id="100" name="Google Shape;100;p14" title="Arpit_Tripathi.jpeg"/>
          <p:cNvPicPr preferRelativeResize="0"/>
          <p:nvPr/>
        </p:nvPicPr>
        <p:blipFill rotWithShape="1">
          <a:blip r:embed="rId6">
            <a:alphaModFix/>
          </a:blip>
          <a:srcRect b="0" l="0" r="0" t="0"/>
          <a:stretch/>
        </p:blipFill>
        <p:spPr>
          <a:xfrm>
            <a:off x="8774638" y="2357425"/>
            <a:ext cx="1800225" cy="1790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 name="Google Shape;106;p15"/>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The Internship Workflow</a:t>
            </a:r>
            <a:endParaRPr/>
          </a:p>
        </p:txBody>
      </p:sp>
      <p:sp>
        <p:nvSpPr>
          <p:cNvPr id="107" name="Google Shape;107;p15"/>
          <p:cNvSpPr/>
          <p:nvPr/>
        </p:nvSpPr>
        <p:spPr>
          <a:xfrm>
            <a:off x="571500" y="4090987"/>
            <a:ext cx="11049000" cy="381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5"/>
          <p:cNvSpPr txBox="1"/>
          <p:nvPr/>
        </p:nvSpPr>
        <p:spPr>
          <a:xfrm>
            <a:off x="525463" y="4443412"/>
            <a:ext cx="193352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1. Core Python</a:t>
            </a:r>
            <a:endParaRPr/>
          </a:p>
        </p:txBody>
      </p:sp>
      <p:sp>
        <p:nvSpPr>
          <p:cNvPr id="109" name="Google Shape;109;p15"/>
          <p:cNvSpPr txBox="1"/>
          <p:nvPr/>
        </p:nvSpPr>
        <p:spPr>
          <a:xfrm>
            <a:off x="571500" y="4824412"/>
            <a:ext cx="1841450" cy="426541"/>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Mastering syntax, loops, and OOP concepts.</a:t>
            </a:r>
            <a:endParaRPr/>
          </a:p>
        </p:txBody>
      </p:sp>
      <p:sp>
        <p:nvSpPr>
          <p:cNvPr id="110" name="Google Shape;110;p15"/>
          <p:cNvSpPr txBox="1"/>
          <p:nvPr/>
        </p:nvSpPr>
        <p:spPr>
          <a:xfrm>
            <a:off x="2366914" y="2969121"/>
            <a:ext cx="193352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2. Modules</a:t>
            </a:r>
            <a:endParaRPr/>
          </a:p>
        </p:txBody>
      </p:sp>
      <p:sp>
        <p:nvSpPr>
          <p:cNvPr id="111" name="Google Shape;111;p15"/>
          <p:cNvSpPr txBox="1"/>
          <p:nvPr/>
        </p:nvSpPr>
        <p:spPr>
          <a:xfrm>
            <a:off x="2412950" y="3350121"/>
            <a:ext cx="1841450" cy="426541"/>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Utilizing NumPy, Pandas, and Matplotlib.</a:t>
            </a:r>
            <a:endParaRPr/>
          </a:p>
        </p:txBody>
      </p:sp>
      <p:sp>
        <p:nvSpPr>
          <p:cNvPr id="112" name="Google Shape;112;p15"/>
          <p:cNvSpPr txBox="1"/>
          <p:nvPr/>
        </p:nvSpPr>
        <p:spPr>
          <a:xfrm>
            <a:off x="4208364" y="4443412"/>
            <a:ext cx="193352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3. Databases</a:t>
            </a:r>
            <a:endParaRPr/>
          </a:p>
        </p:txBody>
      </p:sp>
      <p:sp>
        <p:nvSpPr>
          <p:cNvPr id="113" name="Google Shape;113;p15"/>
          <p:cNvSpPr txBox="1"/>
          <p:nvPr/>
        </p:nvSpPr>
        <p:spPr>
          <a:xfrm>
            <a:off x="4254400" y="4824412"/>
            <a:ext cx="1841450" cy="426541"/>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Structuring storage with MySQL &amp; Workbench.</a:t>
            </a:r>
            <a:endParaRPr/>
          </a:p>
        </p:txBody>
      </p:sp>
      <p:sp>
        <p:nvSpPr>
          <p:cNvPr id="114" name="Google Shape;114;p15"/>
          <p:cNvSpPr txBox="1"/>
          <p:nvPr/>
        </p:nvSpPr>
        <p:spPr>
          <a:xfrm>
            <a:off x="6049814" y="2969121"/>
            <a:ext cx="193352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4. Kaggle &amp; BI</a:t>
            </a:r>
            <a:endParaRPr/>
          </a:p>
        </p:txBody>
      </p:sp>
      <p:sp>
        <p:nvSpPr>
          <p:cNvPr id="115" name="Google Shape;115;p15"/>
          <p:cNvSpPr txBox="1"/>
          <p:nvPr/>
        </p:nvSpPr>
        <p:spPr>
          <a:xfrm>
            <a:off x="6095851" y="3350121"/>
            <a:ext cx="1841450" cy="426541"/>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Cleaning text datasets and visualizing in Power BI.</a:t>
            </a:r>
            <a:endParaRPr/>
          </a:p>
        </p:txBody>
      </p:sp>
      <p:sp>
        <p:nvSpPr>
          <p:cNvPr id="116" name="Google Shape;116;p15"/>
          <p:cNvSpPr txBox="1"/>
          <p:nvPr/>
        </p:nvSpPr>
        <p:spPr>
          <a:xfrm>
            <a:off x="7891265" y="4443412"/>
            <a:ext cx="1933522" cy="571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5. Machine Learning</a:t>
            </a:r>
            <a:endParaRPr/>
          </a:p>
        </p:txBody>
      </p:sp>
      <p:sp>
        <p:nvSpPr>
          <p:cNvPr id="117" name="Google Shape;117;p15"/>
          <p:cNvSpPr txBox="1"/>
          <p:nvPr/>
        </p:nvSpPr>
        <p:spPr>
          <a:xfrm>
            <a:off x="7937301" y="5110162"/>
            <a:ext cx="1841450" cy="639812"/>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Understanding models, types, and solving ML problems.</a:t>
            </a:r>
            <a:endParaRPr/>
          </a:p>
        </p:txBody>
      </p:sp>
      <p:sp>
        <p:nvSpPr>
          <p:cNvPr id="118" name="Google Shape;118;p15"/>
          <p:cNvSpPr txBox="1"/>
          <p:nvPr/>
        </p:nvSpPr>
        <p:spPr>
          <a:xfrm>
            <a:off x="9732715" y="2755850"/>
            <a:ext cx="1933522"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38BDF8"/>
                </a:solidFill>
                <a:latin typeface="Poppins"/>
                <a:ea typeface="Poppins"/>
                <a:cs typeface="Poppins"/>
                <a:sym typeface="Poppins"/>
              </a:rPr>
              <a:t>6. J.A.R.V.I.S</a:t>
            </a:r>
            <a:endParaRPr/>
          </a:p>
        </p:txBody>
      </p:sp>
      <p:sp>
        <p:nvSpPr>
          <p:cNvPr id="119" name="Google Shape;119;p15"/>
          <p:cNvSpPr txBox="1"/>
          <p:nvPr/>
        </p:nvSpPr>
        <p:spPr>
          <a:xfrm>
            <a:off x="9778751" y="3136850"/>
            <a:ext cx="1841450" cy="639812"/>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Developing the Python-based local AI automation bot.</a:t>
            </a:r>
            <a:endParaRPr/>
          </a:p>
        </p:txBody>
      </p:sp>
      <p:sp>
        <p:nvSpPr>
          <p:cNvPr id="120" name="Google Shape;120;p15"/>
          <p:cNvSpPr/>
          <p:nvPr/>
        </p:nvSpPr>
        <p:spPr>
          <a:xfrm>
            <a:off x="1377925"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p:nvPr/>
        </p:nvSpPr>
        <p:spPr>
          <a:xfrm>
            <a:off x="3219375"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5"/>
          <p:cNvSpPr/>
          <p:nvPr/>
        </p:nvSpPr>
        <p:spPr>
          <a:xfrm>
            <a:off x="5060825"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p:nvPr/>
        </p:nvSpPr>
        <p:spPr>
          <a:xfrm>
            <a:off x="6902276"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p:nvPr/>
        </p:nvSpPr>
        <p:spPr>
          <a:xfrm>
            <a:off x="8743726"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5"/>
          <p:cNvSpPr/>
          <p:nvPr/>
        </p:nvSpPr>
        <p:spPr>
          <a:xfrm>
            <a:off x="10585177" y="3995737"/>
            <a:ext cx="228600" cy="228600"/>
          </a:xfrm>
          <a:prstGeom prst="roundRect">
            <a:avLst>
              <a:gd fmla="val 50000" name="adj"/>
            </a:avLst>
          </a:prstGeom>
          <a:solidFill>
            <a:srgbClr val="0B1121"/>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image.png" id="130" name="Google Shape;130;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16"/>
          <p:cNvSpPr txBox="1"/>
          <p:nvPr/>
        </p:nvSpPr>
        <p:spPr>
          <a:xfrm>
            <a:off x="4890849" y="3012727"/>
            <a:ext cx="2410301"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1</a:t>
            </a:r>
            <a:endParaRPr/>
          </a:p>
        </p:txBody>
      </p:sp>
      <p:sp>
        <p:nvSpPr>
          <p:cNvPr id="132" name="Google Shape;132;p16"/>
          <p:cNvSpPr txBox="1"/>
          <p:nvPr/>
        </p:nvSpPr>
        <p:spPr>
          <a:xfrm>
            <a:off x="4819650" y="4108102"/>
            <a:ext cx="25527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The Foundation: Python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descr="image.png" id="137" name="Google Shape;13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8" name="Google Shape;138;p17"/>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Python: The Engine of AI</a:t>
            </a:r>
            <a:endParaRPr/>
          </a:p>
        </p:txBody>
      </p:sp>
      <p:sp>
        <p:nvSpPr>
          <p:cNvPr id="139" name="Google Shape;139;p17"/>
          <p:cNvSpPr txBox="1"/>
          <p:nvPr/>
        </p:nvSpPr>
        <p:spPr>
          <a:xfrm>
            <a:off x="857250" y="1871662"/>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Definition:</a:t>
            </a:r>
            <a:r>
              <a:rPr b="0" i="0" lang="en-US" sz="1350" u="none" cap="none" strike="noStrike">
                <a:solidFill>
                  <a:srgbClr val="CBD5E1"/>
                </a:solidFill>
                <a:latin typeface="Inter"/>
                <a:ea typeface="Inter"/>
                <a:cs typeface="Inter"/>
                <a:sym typeface="Inter"/>
              </a:rPr>
              <a:t> Python is a high-level, interpreted, general-purpose programming language. Its design philosophy emphasizes code readability.</a:t>
            </a:r>
            <a:endParaRPr/>
          </a:p>
        </p:txBody>
      </p:sp>
      <p:sp>
        <p:nvSpPr>
          <p:cNvPr id="140" name="Google Shape;140;p17"/>
          <p:cNvSpPr txBox="1"/>
          <p:nvPr/>
        </p:nvSpPr>
        <p:spPr>
          <a:xfrm>
            <a:off x="857250" y="288503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Versatility:</a:t>
            </a:r>
            <a:r>
              <a:rPr b="0" i="0" lang="en-US" sz="1350" u="none" cap="none" strike="noStrike">
                <a:solidFill>
                  <a:srgbClr val="CBD5E1"/>
                </a:solidFill>
                <a:latin typeface="Inter"/>
                <a:ea typeface="Inter"/>
                <a:cs typeface="Inter"/>
                <a:sym typeface="Inter"/>
              </a:rPr>
              <a:t> It serves as the backbone for modern Data Science, Machine Learning, and backend architecture.</a:t>
            </a:r>
            <a:endParaRPr/>
          </a:p>
        </p:txBody>
      </p:sp>
      <p:sp>
        <p:nvSpPr>
          <p:cNvPr id="141" name="Google Shape;141;p17"/>
          <p:cNvSpPr txBox="1"/>
          <p:nvPr/>
        </p:nvSpPr>
        <p:spPr>
          <a:xfrm>
            <a:off x="857250" y="3624113"/>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Simplicity:</a:t>
            </a:r>
            <a:r>
              <a:rPr b="0" i="0" lang="en-US" sz="1350" u="none" cap="none" strike="noStrike">
                <a:solidFill>
                  <a:srgbClr val="CBD5E1"/>
                </a:solidFill>
                <a:latin typeface="Inter"/>
                <a:ea typeface="Inter"/>
                <a:cs typeface="Inter"/>
                <a:sym typeface="Inter"/>
              </a:rPr>
              <a:t> Its English-like syntax allows developers to focus on solving complex problems rather than fighting syntax errors.</a:t>
            </a:r>
            <a:endParaRPr/>
          </a:p>
        </p:txBody>
      </p:sp>
      <p:sp>
        <p:nvSpPr>
          <p:cNvPr id="142" name="Google Shape;142;p17"/>
          <p:cNvSpPr txBox="1"/>
          <p:nvPr/>
        </p:nvSpPr>
        <p:spPr>
          <a:xfrm>
            <a:off x="857250" y="4637484"/>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Community &amp; Ecosystem:</a:t>
            </a:r>
            <a:r>
              <a:rPr b="0" i="0" lang="en-US" sz="1350" u="none" cap="none" strike="noStrike">
                <a:solidFill>
                  <a:srgbClr val="CBD5E1"/>
                </a:solidFill>
                <a:latin typeface="Inter"/>
                <a:ea typeface="Inter"/>
                <a:cs typeface="Inter"/>
                <a:sym typeface="Inter"/>
              </a:rPr>
              <a:t> Backed by a massive global community, it offers robust libraries for almost every conceivable task.</a:t>
            </a:r>
            <a:endParaRPr/>
          </a:p>
        </p:txBody>
      </p:sp>
      <p:sp>
        <p:nvSpPr>
          <p:cNvPr id="143" name="Google Shape;143;p17"/>
          <p:cNvSpPr txBox="1"/>
          <p:nvPr/>
        </p:nvSpPr>
        <p:spPr>
          <a:xfrm>
            <a:off x="571500" y="185261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144" name="Google Shape;144;p17"/>
          <p:cNvSpPr txBox="1"/>
          <p:nvPr/>
        </p:nvSpPr>
        <p:spPr>
          <a:xfrm>
            <a:off x="571500" y="286598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145" name="Google Shape;145;p17"/>
          <p:cNvSpPr txBox="1"/>
          <p:nvPr/>
        </p:nvSpPr>
        <p:spPr>
          <a:xfrm>
            <a:off x="571500" y="360506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146" name="Google Shape;146;p17"/>
          <p:cNvSpPr txBox="1"/>
          <p:nvPr/>
        </p:nvSpPr>
        <p:spPr>
          <a:xfrm>
            <a:off x="571500" y="4618434"/>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image.png" id="151" name="Google Shape;15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2" name="Google Shape;152;p18"/>
          <p:cNvPicPr preferRelativeResize="0"/>
          <p:nvPr/>
        </p:nvPicPr>
        <p:blipFill rotWithShape="1">
          <a:blip r:embed="rId4">
            <a:alphaModFix/>
          </a:blip>
          <a:srcRect b="0" l="0" r="0" t="0"/>
          <a:stretch/>
        </p:blipFill>
        <p:spPr>
          <a:xfrm>
            <a:off x="571500" y="2334666"/>
            <a:ext cx="5334000" cy="3074491"/>
          </a:xfrm>
          <a:prstGeom prst="rect">
            <a:avLst/>
          </a:prstGeom>
          <a:noFill/>
          <a:ln>
            <a:noFill/>
          </a:ln>
        </p:spPr>
      </p:pic>
      <p:pic>
        <p:nvPicPr>
          <p:cNvPr descr="image.png" id="153" name="Google Shape;153;p18"/>
          <p:cNvPicPr preferRelativeResize="0"/>
          <p:nvPr/>
        </p:nvPicPr>
        <p:blipFill rotWithShape="1">
          <a:blip r:embed="rId5">
            <a:alphaModFix/>
          </a:blip>
          <a:srcRect b="0" l="0" r="0" t="0"/>
          <a:stretch/>
        </p:blipFill>
        <p:spPr>
          <a:xfrm>
            <a:off x="6286500" y="2334666"/>
            <a:ext cx="5334000" cy="3074491"/>
          </a:xfrm>
          <a:prstGeom prst="rect">
            <a:avLst/>
          </a:prstGeom>
          <a:noFill/>
          <a:ln>
            <a:noFill/>
          </a:ln>
        </p:spPr>
      </p:pic>
      <p:sp>
        <p:nvSpPr>
          <p:cNvPr id="154" name="Google Shape;154;p18"/>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Why We Use Python</a:t>
            </a:r>
            <a:endParaRPr/>
          </a:p>
        </p:txBody>
      </p:sp>
      <p:sp>
        <p:nvSpPr>
          <p:cNvPr id="155" name="Google Shape;155;p18"/>
          <p:cNvSpPr txBox="1"/>
          <p:nvPr/>
        </p:nvSpPr>
        <p:spPr>
          <a:xfrm>
            <a:off x="962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Key Advantages</a:t>
            </a:r>
            <a:endParaRPr/>
          </a:p>
        </p:txBody>
      </p:sp>
      <p:sp>
        <p:nvSpPr>
          <p:cNvPr id="156" name="Google Shape;156;p18"/>
          <p:cNvSpPr txBox="1"/>
          <p:nvPr/>
        </p:nvSpPr>
        <p:spPr>
          <a:xfrm>
            <a:off x="962025" y="3372891"/>
            <a:ext cx="45529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Python provides an incredibly flat learning curve, making it accessible for rapid prototyping. It is platform-independent (works on Windows, Mac, Linux) and easily integrates with other languages like C or Java. Its memory management and dynamic typing allow for highly flexible scaling in production environments.</a:t>
            </a:r>
            <a:endParaRPr/>
          </a:p>
        </p:txBody>
      </p:sp>
      <p:sp>
        <p:nvSpPr>
          <p:cNvPr id="157" name="Google Shape;157;p18"/>
          <p:cNvSpPr txBox="1"/>
          <p:nvPr/>
        </p:nvSpPr>
        <p:spPr>
          <a:xfrm>
            <a:off x="6677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Primary Uses</a:t>
            </a:r>
            <a:endParaRPr/>
          </a:p>
        </p:txBody>
      </p:sp>
      <p:sp>
        <p:nvSpPr>
          <p:cNvPr id="158" name="Google Shape;158;p18"/>
          <p:cNvSpPr txBox="1"/>
          <p:nvPr/>
        </p:nvSpPr>
        <p:spPr>
          <a:xfrm>
            <a:off x="6677025" y="3372891"/>
            <a:ext cx="45529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Beyond data analytics, Python is utilized for automation (scripting), web development (Django, Flask), software testing, and artificial intelligence. In this internship, it acted as the primary tool to wrangle data, train machine learning models, and build the OS-level automation for J.A.R.V.I.S.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image.png" id="163" name="Google Shape;163;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4" name="Google Shape;164;p19"/>
          <p:cNvSpPr txBox="1"/>
          <p:nvPr/>
        </p:nvSpPr>
        <p:spPr>
          <a:xfrm>
            <a:off x="4830841" y="3012727"/>
            <a:ext cx="2530316"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2</a:t>
            </a:r>
            <a:endParaRPr/>
          </a:p>
        </p:txBody>
      </p:sp>
      <p:sp>
        <p:nvSpPr>
          <p:cNvPr id="165" name="Google Shape;165;p19"/>
          <p:cNvSpPr txBox="1"/>
          <p:nvPr/>
        </p:nvSpPr>
        <p:spPr>
          <a:xfrm>
            <a:off x="5057775" y="4108102"/>
            <a:ext cx="20764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Core Data Modules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image.png" id="170" name="Google Shape;17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1" name="Google Shape;171;p20"/>
          <p:cNvPicPr preferRelativeResize="0"/>
          <p:nvPr/>
        </p:nvPicPr>
        <p:blipFill rotWithShape="1">
          <a:blip r:embed="rId4">
            <a:alphaModFix/>
          </a:blip>
          <a:srcRect b="0" l="0" r="0" t="0"/>
          <a:stretch/>
        </p:blipFill>
        <p:spPr>
          <a:xfrm>
            <a:off x="571500" y="2124075"/>
            <a:ext cx="3492549" cy="3495526"/>
          </a:xfrm>
          <a:prstGeom prst="rect">
            <a:avLst/>
          </a:prstGeom>
          <a:noFill/>
          <a:ln>
            <a:noFill/>
          </a:ln>
        </p:spPr>
      </p:pic>
      <p:pic>
        <p:nvPicPr>
          <p:cNvPr descr="image.png" id="172" name="Google Shape;172;p20"/>
          <p:cNvPicPr preferRelativeResize="0"/>
          <p:nvPr/>
        </p:nvPicPr>
        <p:blipFill rotWithShape="1">
          <a:blip r:embed="rId5">
            <a:alphaModFix/>
          </a:blip>
          <a:srcRect b="0" l="0" r="0" t="0"/>
          <a:stretch/>
        </p:blipFill>
        <p:spPr>
          <a:xfrm>
            <a:off x="4349799" y="2124075"/>
            <a:ext cx="3492549" cy="3495526"/>
          </a:xfrm>
          <a:prstGeom prst="rect">
            <a:avLst/>
          </a:prstGeom>
          <a:noFill/>
          <a:ln>
            <a:noFill/>
          </a:ln>
        </p:spPr>
      </p:pic>
      <p:pic>
        <p:nvPicPr>
          <p:cNvPr descr="image.png" id="173" name="Google Shape;173;p20"/>
          <p:cNvPicPr preferRelativeResize="0"/>
          <p:nvPr/>
        </p:nvPicPr>
        <p:blipFill rotWithShape="1">
          <a:blip r:embed="rId6">
            <a:alphaModFix/>
          </a:blip>
          <a:srcRect b="0" l="0" r="0" t="0"/>
          <a:stretch/>
        </p:blipFill>
        <p:spPr>
          <a:xfrm>
            <a:off x="8128099" y="2124075"/>
            <a:ext cx="3492549" cy="3495526"/>
          </a:xfrm>
          <a:prstGeom prst="rect">
            <a:avLst/>
          </a:prstGeom>
          <a:noFill/>
          <a:ln>
            <a:noFill/>
          </a:ln>
        </p:spPr>
      </p:pic>
      <p:sp>
        <p:nvSpPr>
          <p:cNvPr id="174" name="Google Shape;174;p20"/>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NumPy: Numerical Computing</a:t>
            </a:r>
            <a:endParaRPr/>
          </a:p>
        </p:txBody>
      </p:sp>
      <p:pic>
        <p:nvPicPr>
          <p:cNvPr descr="image.png" id="175" name="Google Shape;175;p20"/>
          <p:cNvPicPr preferRelativeResize="0"/>
          <p:nvPr/>
        </p:nvPicPr>
        <p:blipFill rotWithShape="1">
          <a:blip r:embed="rId7">
            <a:alphaModFix/>
          </a:blip>
          <a:srcRect b="0" l="0" r="0" t="0"/>
          <a:stretch/>
        </p:blipFill>
        <p:spPr>
          <a:xfrm>
            <a:off x="866775" y="2514600"/>
            <a:ext cx="2901999" cy="561975"/>
          </a:xfrm>
          <a:prstGeom prst="rect">
            <a:avLst/>
          </a:prstGeom>
          <a:noFill/>
          <a:ln>
            <a:noFill/>
          </a:ln>
        </p:spPr>
      </p:pic>
      <p:sp>
        <p:nvSpPr>
          <p:cNvPr id="176" name="Google Shape;176;p20"/>
          <p:cNvSpPr txBox="1"/>
          <p:nvPr/>
        </p:nvSpPr>
        <p:spPr>
          <a:xfrm>
            <a:off x="866775"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Definition</a:t>
            </a:r>
            <a:endParaRPr/>
          </a:p>
        </p:txBody>
      </p:sp>
      <p:sp>
        <p:nvSpPr>
          <p:cNvPr id="177" name="Google Shape;177;p20"/>
          <p:cNvSpPr txBox="1"/>
          <p:nvPr/>
        </p:nvSpPr>
        <p:spPr>
          <a:xfrm>
            <a:off x="866775"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Numerical Python (NumPy) is the foundational package for scientific computing in Python, providing support for large, multi-dimensional arrays and matrices.</a:t>
            </a:r>
            <a:endParaRPr/>
          </a:p>
        </p:txBody>
      </p:sp>
      <p:pic>
        <p:nvPicPr>
          <p:cNvPr descr="image.png" id="178" name="Google Shape;178;p20"/>
          <p:cNvPicPr preferRelativeResize="0"/>
          <p:nvPr/>
        </p:nvPicPr>
        <p:blipFill rotWithShape="1">
          <a:blip r:embed="rId7">
            <a:alphaModFix/>
          </a:blip>
          <a:srcRect b="0" l="0" r="0" t="0"/>
          <a:stretch/>
        </p:blipFill>
        <p:spPr>
          <a:xfrm>
            <a:off x="4645074" y="2514600"/>
            <a:ext cx="2901999" cy="561975"/>
          </a:xfrm>
          <a:prstGeom prst="rect">
            <a:avLst/>
          </a:prstGeom>
          <a:noFill/>
          <a:ln>
            <a:noFill/>
          </a:ln>
        </p:spPr>
      </p:pic>
      <p:sp>
        <p:nvSpPr>
          <p:cNvPr id="179" name="Google Shape;179;p20"/>
          <p:cNvSpPr txBox="1"/>
          <p:nvPr/>
        </p:nvSpPr>
        <p:spPr>
          <a:xfrm>
            <a:off x="46450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Features</a:t>
            </a:r>
            <a:endParaRPr/>
          </a:p>
        </p:txBody>
      </p:sp>
      <p:sp>
        <p:nvSpPr>
          <p:cNvPr id="180" name="Google Shape;180;p20"/>
          <p:cNvSpPr txBox="1"/>
          <p:nvPr/>
        </p:nvSpPr>
        <p:spPr>
          <a:xfrm>
            <a:off x="46450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It includes a powerful N-dimensional array object, sophisticated broadcasting functions, and tools for integrating C/C++ and Fortran code.</a:t>
            </a:r>
            <a:endParaRPr/>
          </a:p>
        </p:txBody>
      </p:sp>
      <p:pic>
        <p:nvPicPr>
          <p:cNvPr descr="image.png" id="181" name="Google Shape;181;p20"/>
          <p:cNvPicPr preferRelativeResize="0"/>
          <p:nvPr/>
        </p:nvPicPr>
        <p:blipFill rotWithShape="1">
          <a:blip r:embed="rId7">
            <a:alphaModFix/>
          </a:blip>
          <a:srcRect b="0" l="0" r="0" t="0"/>
          <a:stretch/>
        </p:blipFill>
        <p:spPr>
          <a:xfrm>
            <a:off x="8423374" y="2514600"/>
            <a:ext cx="2901999" cy="561975"/>
          </a:xfrm>
          <a:prstGeom prst="rect">
            <a:avLst/>
          </a:prstGeom>
          <a:noFill/>
          <a:ln>
            <a:noFill/>
          </a:ln>
        </p:spPr>
      </p:pic>
      <p:sp>
        <p:nvSpPr>
          <p:cNvPr id="182" name="Google Shape;182;p20"/>
          <p:cNvSpPr txBox="1"/>
          <p:nvPr/>
        </p:nvSpPr>
        <p:spPr>
          <a:xfrm>
            <a:off x="84233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Advantages</a:t>
            </a:r>
            <a:endParaRPr/>
          </a:p>
        </p:txBody>
      </p:sp>
      <p:sp>
        <p:nvSpPr>
          <p:cNvPr id="183" name="Google Shape;183;p20"/>
          <p:cNvSpPr txBox="1"/>
          <p:nvPr/>
        </p:nvSpPr>
        <p:spPr>
          <a:xfrm>
            <a:off x="84233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NumPy arrays consume less memory than traditional Python lists and are significantly faster, optimizing heavy mathematical and logical operations.</a:t>
            </a:r>
            <a:endParaRPr/>
          </a:p>
        </p:txBody>
      </p:sp>
      <p:pic>
        <p:nvPicPr>
          <p:cNvPr descr="image.png" id="184" name="Google Shape;184;p20"/>
          <p:cNvPicPr preferRelativeResize="0"/>
          <p:nvPr/>
        </p:nvPicPr>
        <p:blipFill rotWithShape="1">
          <a:blip r:embed="rId8">
            <a:alphaModFix/>
          </a:blip>
          <a:srcRect b="0" l="0" r="0" t="0"/>
          <a:stretch/>
        </p:blipFill>
        <p:spPr>
          <a:xfrm>
            <a:off x="866775" y="2562225"/>
            <a:ext cx="342900" cy="457200"/>
          </a:xfrm>
          <a:prstGeom prst="rect">
            <a:avLst/>
          </a:prstGeom>
          <a:noFill/>
          <a:ln>
            <a:noFill/>
          </a:ln>
        </p:spPr>
      </p:pic>
      <p:pic>
        <p:nvPicPr>
          <p:cNvPr descr="image.png" id="185" name="Google Shape;185;p20"/>
          <p:cNvPicPr preferRelativeResize="0"/>
          <p:nvPr/>
        </p:nvPicPr>
        <p:blipFill rotWithShape="1">
          <a:blip r:embed="rId9">
            <a:alphaModFix/>
          </a:blip>
          <a:srcRect b="0" l="0" r="0" t="0"/>
          <a:stretch/>
        </p:blipFill>
        <p:spPr>
          <a:xfrm>
            <a:off x="4645074" y="2562225"/>
            <a:ext cx="400050" cy="457200"/>
          </a:xfrm>
          <a:prstGeom prst="rect">
            <a:avLst/>
          </a:prstGeom>
          <a:noFill/>
          <a:ln>
            <a:noFill/>
          </a:ln>
        </p:spPr>
      </p:pic>
      <p:pic>
        <p:nvPicPr>
          <p:cNvPr descr="image.png" id="186" name="Google Shape;186;p20"/>
          <p:cNvPicPr preferRelativeResize="0"/>
          <p:nvPr/>
        </p:nvPicPr>
        <p:blipFill rotWithShape="1">
          <a:blip r:embed="rId10">
            <a:alphaModFix/>
          </a:blip>
          <a:srcRect b="0" l="0" r="0" t="0"/>
          <a:stretch/>
        </p:blipFill>
        <p:spPr>
          <a:xfrm>
            <a:off x="8423374" y="2562225"/>
            <a:ext cx="4572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image.png" id="191" name="Google Shape;19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2" name="Google Shape;192;p21"/>
          <p:cNvPicPr preferRelativeResize="0"/>
          <p:nvPr/>
        </p:nvPicPr>
        <p:blipFill rotWithShape="1">
          <a:blip r:embed="rId4">
            <a:alphaModFix/>
          </a:blip>
          <a:srcRect b="0" l="0" r="0" t="0"/>
          <a:stretch/>
        </p:blipFill>
        <p:spPr>
          <a:xfrm>
            <a:off x="571500" y="2124075"/>
            <a:ext cx="3492549" cy="3495526"/>
          </a:xfrm>
          <a:prstGeom prst="rect">
            <a:avLst/>
          </a:prstGeom>
          <a:noFill/>
          <a:ln>
            <a:noFill/>
          </a:ln>
        </p:spPr>
      </p:pic>
      <p:pic>
        <p:nvPicPr>
          <p:cNvPr descr="image.png" id="193" name="Google Shape;193;p21"/>
          <p:cNvPicPr preferRelativeResize="0"/>
          <p:nvPr/>
        </p:nvPicPr>
        <p:blipFill rotWithShape="1">
          <a:blip r:embed="rId5">
            <a:alphaModFix/>
          </a:blip>
          <a:srcRect b="0" l="0" r="0" t="0"/>
          <a:stretch/>
        </p:blipFill>
        <p:spPr>
          <a:xfrm>
            <a:off x="4349799" y="2124075"/>
            <a:ext cx="3492549" cy="3495526"/>
          </a:xfrm>
          <a:prstGeom prst="rect">
            <a:avLst/>
          </a:prstGeom>
          <a:noFill/>
          <a:ln>
            <a:noFill/>
          </a:ln>
        </p:spPr>
      </p:pic>
      <p:pic>
        <p:nvPicPr>
          <p:cNvPr descr="image.png" id="194" name="Google Shape;194;p21"/>
          <p:cNvPicPr preferRelativeResize="0"/>
          <p:nvPr/>
        </p:nvPicPr>
        <p:blipFill rotWithShape="1">
          <a:blip r:embed="rId6">
            <a:alphaModFix/>
          </a:blip>
          <a:srcRect b="0" l="0" r="0" t="0"/>
          <a:stretch/>
        </p:blipFill>
        <p:spPr>
          <a:xfrm>
            <a:off x="8128099" y="2124075"/>
            <a:ext cx="3492549" cy="3495526"/>
          </a:xfrm>
          <a:prstGeom prst="rect">
            <a:avLst/>
          </a:prstGeom>
          <a:noFill/>
          <a:ln>
            <a:noFill/>
          </a:ln>
        </p:spPr>
      </p:pic>
      <p:sp>
        <p:nvSpPr>
          <p:cNvPr id="195" name="Google Shape;195;p21"/>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Pandas: Data Manipulation</a:t>
            </a:r>
            <a:endParaRPr/>
          </a:p>
        </p:txBody>
      </p:sp>
      <p:pic>
        <p:nvPicPr>
          <p:cNvPr descr="image.png" id="196" name="Google Shape;196;p21"/>
          <p:cNvPicPr preferRelativeResize="0"/>
          <p:nvPr/>
        </p:nvPicPr>
        <p:blipFill rotWithShape="1">
          <a:blip r:embed="rId7">
            <a:alphaModFix/>
          </a:blip>
          <a:srcRect b="0" l="0" r="0" t="0"/>
          <a:stretch/>
        </p:blipFill>
        <p:spPr>
          <a:xfrm>
            <a:off x="866775" y="2514600"/>
            <a:ext cx="2901999" cy="561975"/>
          </a:xfrm>
          <a:prstGeom prst="rect">
            <a:avLst/>
          </a:prstGeom>
          <a:noFill/>
          <a:ln>
            <a:noFill/>
          </a:ln>
        </p:spPr>
      </p:pic>
      <p:sp>
        <p:nvSpPr>
          <p:cNvPr id="197" name="Google Shape;197;p21"/>
          <p:cNvSpPr txBox="1"/>
          <p:nvPr/>
        </p:nvSpPr>
        <p:spPr>
          <a:xfrm>
            <a:off x="866775"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Definition</a:t>
            </a:r>
            <a:endParaRPr/>
          </a:p>
        </p:txBody>
      </p:sp>
      <p:sp>
        <p:nvSpPr>
          <p:cNvPr id="198" name="Google Shape;198;p21"/>
          <p:cNvSpPr txBox="1"/>
          <p:nvPr/>
        </p:nvSpPr>
        <p:spPr>
          <a:xfrm>
            <a:off x="866775"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Pandas is a fast, powerful, and flexible open-source data analysis and manipulation tool built on top of the Python programming language.</a:t>
            </a:r>
            <a:endParaRPr/>
          </a:p>
        </p:txBody>
      </p:sp>
      <p:pic>
        <p:nvPicPr>
          <p:cNvPr descr="image.png" id="199" name="Google Shape;199;p21"/>
          <p:cNvPicPr preferRelativeResize="0"/>
          <p:nvPr/>
        </p:nvPicPr>
        <p:blipFill rotWithShape="1">
          <a:blip r:embed="rId7">
            <a:alphaModFix/>
          </a:blip>
          <a:srcRect b="0" l="0" r="0" t="0"/>
          <a:stretch/>
        </p:blipFill>
        <p:spPr>
          <a:xfrm>
            <a:off x="4645074" y="2514600"/>
            <a:ext cx="2901999" cy="561975"/>
          </a:xfrm>
          <a:prstGeom prst="rect">
            <a:avLst/>
          </a:prstGeom>
          <a:noFill/>
          <a:ln>
            <a:noFill/>
          </a:ln>
        </p:spPr>
      </p:pic>
      <p:sp>
        <p:nvSpPr>
          <p:cNvPr id="200" name="Google Shape;200;p21"/>
          <p:cNvSpPr txBox="1"/>
          <p:nvPr/>
        </p:nvSpPr>
        <p:spPr>
          <a:xfrm>
            <a:off x="46450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Features</a:t>
            </a:r>
            <a:endParaRPr/>
          </a:p>
        </p:txBody>
      </p:sp>
      <p:sp>
        <p:nvSpPr>
          <p:cNvPr id="201" name="Google Shape;201;p21"/>
          <p:cNvSpPr txBox="1"/>
          <p:nvPr/>
        </p:nvSpPr>
        <p:spPr>
          <a:xfrm>
            <a:off x="46450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It introduces DataFrames and Series, enabling highly efficient data alignment, handling of missing data, reshaping, and merging of datasets.</a:t>
            </a:r>
            <a:endParaRPr/>
          </a:p>
        </p:txBody>
      </p:sp>
      <p:pic>
        <p:nvPicPr>
          <p:cNvPr descr="image.png" id="202" name="Google Shape;202;p21"/>
          <p:cNvPicPr preferRelativeResize="0"/>
          <p:nvPr/>
        </p:nvPicPr>
        <p:blipFill rotWithShape="1">
          <a:blip r:embed="rId7">
            <a:alphaModFix/>
          </a:blip>
          <a:srcRect b="0" l="0" r="0" t="0"/>
          <a:stretch/>
        </p:blipFill>
        <p:spPr>
          <a:xfrm>
            <a:off x="8423374" y="2514600"/>
            <a:ext cx="2901999" cy="561975"/>
          </a:xfrm>
          <a:prstGeom prst="rect">
            <a:avLst/>
          </a:prstGeom>
          <a:noFill/>
          <a:ln>
            <a:noFill/>
          </a:ln>
        </p:spPr>
      </p:pic>
      <p:sp>
        <p:nvSpPr>
          <p:cNvPr id="203" name="Google Shape;203;p21"/>
          <p:cNvSpPr txBox="1"/>
          <p:nvPr/>
        </p:nvSpPr>
        <p:spPr>
          <a:xfrm>
            <a:off x="84233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Advantages</a:t>
            </a:r>
            <a:endParaRPr/>
          </a:p>
        </p:txBody>
      </p:sp>
      <p:sp>
        <p:nvSpPr>
          <p:cNvPr id="204" name="Google Shape;204;p21"/>
          <p:cNvSpPr txBox="1"/>
          <p:nvPr/>
        </p:nvSpPr>
        <p:spPr>
          <a:xfrm>
            <a:off x="8423374" y="3857625"/>
            <a:ext cx="2901999"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It allows for easy filtering, cleaning, and transformation of raw data extracted from Kaggle into structured, model-ready formats.</a:t>
            </a:r>
            <a:endParaRPr/>
          </a:p>
        </p:txBody>
      </p:sp>
      <p:pic>
        <p:nvPicPr>
          <p:cNvPr descr="image.png" id="205" name="Google Shape;205;p21"/>
          <p:cNvPicPr preferRelativeResize="0"/>
          <p:nvPr/>
        </p:nvPicPr>
        <p:blipFill rotWithShape="1">
          <a:blip r:embed="rId8">
            <a:alphaModFix/>
          </a:blip>
          <a:srcRect b="0" l="0" r="0" t="0"/>
          <a:stretch/>
        </p:blipFill>
        <p:spPr>
          <a:xfrm>
            <a:off x="866775" y="2562225"/>
            <a:ext cx="457200" cy="457200"/>
          </a:xfrm>
          <a:prstGeom prst="rect">
            <a:avLst/>
          </a:prstGeom>
          <a:noFill/>
          <a:ln>
            <a:noFill/>
          </a:ln>
        </p:spPr>
      </p:pic>
      <p:pic>
        <p:nvPicPr>
          <p:cNvPr descr="image.png" id="206" name="Google Shape;206;p21"/>
          <p:cNvPicPr preferRelativeResize="0"/>
          <p:nvPr/>
        </p:nvPicPr>
        <p:blipFill rotWithShape="1">
          <a:blip r:embed="rId9">
            <a:alphaModFix/>
          </a:blip>
          <a:srcRect b="0" l="0" r="0" t="0"/>
          <a:stretch/>
        </p:blipFill>
        <p:spPr>
          <a:xfrm>
            <a:off x="4645074" y="2562225"/>
            <a:ext cx="457200" cy="457200"/>
          </a:xfrm>
          <a:prstGeom prst="rect">
            <a:avLst/>
          </a:prstGeom>
          <a:noFill/>
          <a:ln>
            <a:noFill/>
          </a:ln>
        </p:spPr>
      </p:pic>
      <p:pic>
        <p:nvPicPr>
          <p:cNvPr descr="image.png" id="207" name="Google Shape;207;p21"/>
          <p:cNvPicPr preferRelativeResize="0"/>
          <p:nvPr/>
        </p:nvPicPr>
        <p:blipFill rotWithShape="1">
          <a:blip r:embed="rId10">
            <a:alphaModFix/>
          </a:blip>
          <a:srcRect b="0" l="0" r="0" t="0"/>
          <a:stretch/>
        </p:blipFill>
        <p:spPr>
          <a:xfrm>
            <a:off x="8423374" y="2562225"/>
            <a:ext cx="400050"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image.png" id="212" name="Google Shape;21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3" name="Google Shape;213;p22"/>
          <p:cNvPicPr preferRelativeResize="0"/>
          <p:nvPr/>
        </p:nvPicPr>
        <p:blipFill rotWithShape="1">
          <a:blip r:embed="rId4">
            <a:alphaModFix/>
          </a:blip>
          <a:srcRect b="0" l="0" r="0" t="0"/>
          <a:stretch/>
        </p:blipFill>
        <p:spPr>
          <a:xfrm>
            <a:off x="571500" y="2124075"/>
            <a:ext cx="3492549" cy="3495526"/>
          </a:xfrm>
          <a:prstGeom prst="rect">
            <a:avLst/>
          </a:prstGeom>
          <a:noFill/>
          <a:ln>
            <a:noFill/>
          </a:ln>
        </p:spPr>
      </p:pic>
      <p:pic>
        <p:nvPicPr>
          <p:cNvPr descr="image.png" id="214" name="Google Shape;214;p22"/>
          <p:cNvPicPr preferRelativeResize="0"/>
          <p:nvPr/>
        </p:nvPicPr>
        <p:blipFill rotWithShape="1">
          <a:blip r:embed="rId5">
            <a:alphaModFix/>
          </a:blip>
          <a:srcRect b="0" l="0" r="0" t="0"/>
          <a:stretch/>
        </p:blipFill>
        <p:spPr>
          <a:xfrm>
            <a:off x="4349799" y="2124075"/>
            <a:ext cx="3492549" cy="3495526"/>
          </a:xfrm>
          <a:prstGeom prst="rect">
            <a:avLst/>
          </a:prstGeom>
          <a:noFill/>
          <a:ln>
            <a:noFill/>
          </a:ln>
        </p:spPr>
      </p:pic>
      <p:pic>
        <p:nvPicPr>
          <p:cNvPr descr="image.png" id="215" name="Google Shape;215;p22"/>
          <p:cNvPicPr preferRelativeResize="0"/>
          <p:nvPr/>
        </p:nvPicPr>
        <p:blipFill rotWithShape="1">
          <a:blip r:embed="rId6">
            <a:alphaModFix/>
          </a:blip>
          <a:srcRect b="0" l="0" r="0" t="0"/>
          <a:stretch/>
        </p:blipFill>
        <p:spPr>
          <a:xfrm>
            <a:off x="8128099" y="2124075"/>
            <a:ext cx="3492549" cy="3495526"/>
          </a:xfrm>
          <a:prstGeom prst="rect">
            <a:avLst/>
          </a:prstGeom>
          <a:noFill/>
          <a:ln>
            <a:noFill/>
          </a:ln>
        </p:spPr>
      </p:pic>
      <p:sp>
        <p:nvSpPr>
          <p:cNvPr id="216" name="Google Shape;216;p22"/>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Matplotlib: Data Visualization</a:t>
            </a:r>
            <a:endParaRPr/>
          </a:p>
        </p:txBody>
      </p:sp>
      <p:pic>
        <p:nvPicPr>
          <p:cNvPr descr="image.png" id="217" name="Google Shape;217;p22"/>
          <p:cNvPicPr preferRelativeResize="0"/>
          <p:nvPr/>
        </p:nvPicPr>
        <p:blipFill rotWithShape="1">
          <a:blip r:embed="rId7">
            <a:alphaModFix/>
          </a:blip>
          <a:srcRect b="0" l="0" r="0" t="0"/>
          <a:stretch/>
        </p:blipFill>
        <p:spPr>
          <a:xfrm>
            <a:off x="866775" y="2514600"/>
            <a:ext cx="2901999" cy="561975"/>
          </a:xfrm>
          <a:prstGeom prst="rect">
            <a:avLst/>
          </a:prstGeom>
          <a:noFill/>
          <a:ln>
            <a:noFill/>
          </a:ln>
        </p:spPr>
      </p:pic>
      <p:sp>
        <p:nvSpPr>
          <p:cNvPr id="218" name="Google Shape;218;p22"/>
          <p:cNvSpPr txBox="1"/>
          <p:nvPr/>
        </p:nvSpPr>
        <p:spPr>
          <a:xfrm>
            <a:off x="866775"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Definition</a:t>
            </a:r>
            <a:endParaRPr/>
          </a:p>
        </p:txBody>
      </p:sp>
      <p:sp>
        <p:nvSpPr>
          <p:cNvPr id="219" name="Google Shape;219;p22"/>
          <p:cNvSpPr txBox="1"/>
          <p:nvPr/>
        </p:nvSpPr>
        <p:spPr>
          <a:xfrm>
            <a:off x="866775" y="3857625"/>
            <a:ext cx="2901999"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Matplotlib is a comprehensive library for creating static, animated, and interactive visualizations in Python.</a:t>
            </a:r>
            <a:endParaRPr/>
          </a:p>
        </p:txBody>
      </p:sp>
      <p:pic>
        <p:nvPicPr>
          <p:cNvPr descr="image.png" id="220" name="Google Shape;220;p22"/>
          <p:cNvPicPr preferRelativeResize="0"/>
          <p:nvPr/>
        </p:nvPicPr>
        <p:blipFill rotWithShape="1">
          <a:blip r:embed="rId7">
            <a:alphaModFix/>
          </a:blip>
          <a:srcRect b="0" l="0" r="0" t="0"/>
          <a:stretch/>
        </p:blipFill>
        <p:spPr>
          <a:xfrm>
            <a:off x="4645074" y="2514600"/>
            <a:ext cx="2901999" cy="561975"/>
          </a:xfrm>
          <a:prstGeom prst="rect">
            <a:avLst/>
          </a:prstGeom>
          <a:noFill/>
          <a:ln>
            <a:noFill/>
          </a:ln>
        </p:spPr>
      </p:pic>
      <p:sp>
        <p:nvSpPr>
          <p:cNvPr id="221" name="Google Shape;221;p22"/>
          <p:cNvSpPr txBox="1"/>
          <p:nvPr/>
        </p:nvSpPr>
        <p:spPr>
          <a:xfrm>
            <a:off x="46450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Features</a:t>
            </a:r>
            <a:endParaRPr/>
          </a:p>
        </p:txBody>
      </p:sp>
      <p:sp>
        <p:nvSpPr>
          <p:cNvPr id="222" name="Google Shape;222;p22"/>
          <p:cNvSpPr txBox="1"/>
          <p:nvPr/>
        </p:nvSpPr>
        <p:spPr>
          <a:xfrm>
            <a:off x="4645074" y="3857625"/>
            <a:ext cx="2901999"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It offers precise control over every element of a figure, supporting line plots, scatter plots, bar charts, histograms, and 3D graphs.</a:t>
            </a:r>
            <a:endParaRPr/>
          </a:p>
        </p:txBody>
      </p:sp>
      <p:pic>
        <p:nvPicPr>
          <p:cNvPr descr="image.png" id="223" name="Google Shape;223;p22"/>
          <p:cNvPicPr preferRelativeResize="0"/>
          <p:nvPr/>
        </p:nvPicPr>
        <p:blipFill rotWithShape="1">
          <a:blip r:embed="rId7">
            <a:alphaModFix/>
          </a:blip>
          <a:srcRect b="0" l="0" r="0" t="0"/>
          <a:stretch/>
        </p:blipFill>
        <p:spPr>
          <a:xfrm>
            <a:off x="8423374" y="2514600"/>
            <a:ext cx="2901999" cy="561975"/>
          </a:xfrm>
          <a:prstGeom prst="rect">
            <a:avLst/>
          </a:prstGeom>
          <a:noFill/>
          <a:ln>
            <a:noFill/>
          </a:ln>
        </p:spPr>
      </p:pic>
      <p:sp>
        <p:nvSpPr>
          <p:cNvPr id="224" name="Google Shape;224;p22"/>
          <p:cNvSpPr txBox="1"/>
          <p:nvPr/>
        </p:nvSpPr>
        <p:spPr>
          <a:xfrm>
            <a:off x="84233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Advantages</a:t>
            </a:r>
            <a:endParaRPr/>
          </a:p>
        </p:txBody>
      </p:sp>
      <p:sp>
        <p:nvSpPr>
          <p:cNvPr id="225" name="Google Shape;225;p22"/>
          <p:cNvSpPr txBox="1"/>
          <p:nvPr/>
        </p:nvSpPr>
        <p:spPr>
          <a:xfrm>
            <a:off x="84233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Visualizing data trends is crucial for spotting outliers and patterns before feeding data into Machine Learning models, ensuring higher accuracy.</a:t>
            </a:r>
            <a:endParaRPr/>
          </a:p>
        </p:txBody>
      </p:sp>
      <p:pic>
        <p:nvPicPr>
          <p:cNvPr descr="image.png" id="226" name="Google Shape;226;p22"/>
          <p:cNvPicPr preferRelativeResize="0"/>
          <p:nvPr/>
        </p:nvPicPr>
        <p:blipFill rotWithShape="1">
          <a:blip r:embed="rId8">
            <a:alphaModFix/>
          </a:blip>
          <a:srcRect b="0" l="0" r="0" t="0"/>
          <a:stretch/>
        </p:blipFill>
        <p:spPr>
          <a:xfrm>
            <a:off x="866775" y="2562225"/>
            <a:ext cx="514350" cy="457200"/>
          </a:xfrm>
          <a:prstGeom prst="rect">
            <a:avLst/>
          </a:prstGeom>
          <a:noFill/>
          <a:ln>
            <a:noFill/>
          </a:ln>
        </p:spPr>
      </p:pic>
      <p:pic>
        <p:nvPicPr>
          <p:cNvPr descr="image.png" id="227" name="Google Shape;227;p22"/>
          <p:cNvPicPr preferRelativeResize="0"/>
          <p:nvPr/>
        </p:nvPicPr>
        <p:blipFill rotWithShape="1">
          <a:blip r:embed="rId9">
            <a:alphaModFix/>
          </a:blip>
          <a:srcRect b="0" l="0" r="0" t="0"/>
          <a:stretch/>
        </p:blipFill>
        <p:spPr>
          <a:xfrm>
            <a:off x="4645074" y="2562225"/>
            <a:ext cx="514350" cy="457200"/>
          </a:xfrm>
          <a:prstGeom prst="rect">
            <a:avLst/>
          </a:prstGeom>
          <a:noFill/>
          <a:ln>
            <a:noFill/>
          </a:ln>
        </p:spPr>
      </p:pic>
      <p:pic>
        <p:nvPicPr>
          <p:cNvPr descr="image.png" id="228" name="Google Shape;228;p22"/>
          <p:cNvPicPr preferRelativeResize="0"/>
          <p:nvPr/>
        </p:nvPicPr>
        <p:blipFill rotWithShape="1">
          <a:blip r:embed="rId10">
            <a:alphaModFix/>
          </a:blip>
          <a:srcRect b="0" l="0" r="0" t="0"/>
          <a:stretch/>
        </p:blipFill>
        <p:spPr>
          <a:xfrm>
            <a:off x="8423374" y="2562225"/>
            <a:ext cx="34290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image.png" id="233" name="Google Shape;233;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4" name="Google Shape;234;p23"/>
          <p:cNvSpPr txBox="1"/>
          <p:nvPr/>
        </p:nvSpPr>
        <p:spPr>
          <a:xfrm>
            <a:off x="4810839" y="3012727"/>
            <a:ext cx="2570321"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3</a:t>
            </a:r>
            <a:endParaRPr/>
          </a:p>
        </p:txBody>
      </p:sp>
      <p:sp>
        <p:nvSpPr>
          <p:cNvPr id="235" name="Google Shape;235;p23"/>
          <p:cNvSpPr txBox="1"/>
          <p:nvPr/>
        </p:nvSpPr>
        <p:spPr>
          <a:xfrm>
            <a:off x="4438650" y="4108102"/>
            <a:ext cx="33147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Machine Learning Foundations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descr="image.png" id="240" name="Google Shape;240;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1" name="Google Shape;241;p24"/>
          <p:cNvSpPr txBox="1"/>
          <p:nvPr/>
        </p:nvSpPr>
        <p:spPr>
          <a:xfrm>
            <a:off x="571500" y="571500"/>
            <a:ext cx="5550693"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Decoding Machine Learning</a:t>
            </a:r>
            <a:endParaRPr/>
          </a:p>
        </p:txBody>
      </p:sp>
      <p:pic>
        <p:nvPicPr>
          <p:cNvPr descr="image.png" id="242" name="Google Shape;242;p24"/>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243" name="Google Shape;243;p24"/>
          <p:cNvSpPr txBox="1"/>
          <p:nvPr/>
        </p:nvSpPr>
        <p:spPr>
          <a:xfrm>
            <a:off x="571500" y="2967037"/>
            <a:ext cx="5550693"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What is ML?</a:t>
            </a:r>
            <a:endParaRPr/>
          </a:p>
        </p:txBody>
      </p:sp>
      <p:sp>
        <p:nvSpPr>
          <p:cNvPr id="244" name="Google Shape;244;p24"/>
          <p:cNvSpPr txBox="1"/>
          <p:nvPr/>
        </p:nvSpPr>
        <p:spPr>
          <a:xfrm>
            <a:off x="571500" y="3567112"/>
            <a:ext cx="5286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Machine Learning is a subset of Artificial Intelligence that focuses on building systems capable of learning from data. Instead of programming explicit rules, we feed data to algorithms to allow them to recognize patterns and make decisions autonomously.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image.png" id="249" name="Google Shape;249;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0" name="Google Shape;250;p25"/>
          <p:cNvPicPr preferRelativeResize="0"/>
          <p:nvPr/>
        </p:nvPicPr>
        <p:blipFill rotWithShape="1">
          <a:blip r:embed="rId4">
            <a:alphaModFix/>
          </a:blip>
          <a:srcRect b="0" l="0" r="0" t="0"/>
          <a:stretch/>
        </p:blipFill>
        <p:spPr>
          <a:xfrm>
            <a:off x="571500" y="2334666"/>
            <a:ext cx="5334000" cy="3074491"/>
          </a:xfrm>
          <a:prstGeom prst="rect">
            <a:avLst/>
          </a:prstGeom>
          <a:noFill/>
          <a:ln>
            <a:noFill/>
          </a:ln>
        </p:spPr>
      </p:pic>
      <p:pic>
        <p:nvPicPr>
          <p:cNvPr descr="image.png" id="251" name="Google Shape;251;p25"/>
          <p:cNvPicPr preferRelativeResize="0"/>
          <p:nvPr/>
        </p:nvPicPr>
        <p:blipFill rotWithShape="1">
          <a:blip r:embed="rId5">
            <a:alphaModFix/>
          </a:blip>
          <a:srcRect b="0" l="0" r="0" t="0"/>
          <a:stretch/>
        </p:blipFill>
        <p:spPr>
          <a:xfrm>
            <a:off x="6286500" y="2334666"/>
            <a:ext cx="5334000" cy="3074491"/>
          </a:xfrm>
          <a:prstGeom prst="rect">
            <a:avLst/>
          </a:prstGeom>
          <a:noFill/>
          <a:ln>
            <a:noFill/>
          </a:ln>
        </p:spPr>
      </p:pic>
      <p:sp>
        <p:nvSpPr>
          <p:cNvPr id="252" name="Google Shape;252;p25"/>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ML Features &amp; Advantages</a:t>
            </a:r>
            <a:endParaRPr/>
          </a:p>
        </p:txBody>
      </p:sp>
      <p:sp>
        <p:nvSpPr>
          <p:cNvPr id="253" name="Google Shape;253;p25"/>
          <p:cNvSpPr txBox="1"/>
          <p:nvPr/>
        </p:nvSpPr>
        <p:spPr>
          <a:xfrm>
            <a:off x="962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Key Features</a:t>
            </a:r>
            <a:endParaRPr/>
          </a:p>
        </p:txBody>
      </p:sp>
      <p:sp>
        <p:nvSpPr>
          <p:cNvPr id="254" name="Google Shape;254;p25"/>
          <p:cNvSpPr txBox="1"/>
          <p:nvPr/>
        </p:nvSpPr>
        <p:spPr>
          <a:xfrm>
            <a:off x="962025" y="3372891"/>
            <a:ext cx="45529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Machine Learning systems are characterized by automation, continuous improvement, and the ability to process multidimensional data. They automatically adapt their internal parameters as they are exposed to new training data, creating a dynamic problem-solving architecture.</a:t>
            </a:r>
            <a:endParaRPr/>
          </a:p>
        </p:txBody>
      </p:sp>
      <p:sp>
        <p:nvSpPr>
          <p:cNvPr id="255" name="Google Shape;255;p25"/>
          <p:cNvSpPr txBox="1"/>
          <p:nvPr/>
        </p:nvSpPr>
        <p:spPr>
          <a:xfrm>
            <a:off x="6677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Core Advantages</a:t>
            </a:r>
            <a:endParaRPr/>
          </a:p>
        </p:txBody>
      </p:sp>
      <p:sp>
        <p:nvSpPr>
          <p:cNvPr id="256" name="Google Shape;256;p25"/>
          <p:cNvSpPr txBox="1"/>
          <p:nvPr/>
        </p:nvSpPr>
        <p:spPr>
          <a:xfrm>
            <a:off x="6677025" y="3372891"/>
            <a:ext cx="45529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The primary advantage is scalability. ML models can rapidly identify trends and patterns in massive datasets that humans could never process. They excel at handling multi-variety data, operating in dynamic environments, and continuously increasing their predictive accuracy over time.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image.png" id="261" name="Google Shape;261;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26"/>
          <p:cNvPicPr preferRelativeResize="0"/>
          <p:nvPr/>
        </p:nvPicPr>
        <p:blipFill rotWithShape="1">
          <a:blip r:embed="rId4">
            <a:alphaModFix/>
          </a:blip>
          <a:srcRect b="0" l="0" r="0" t="0"/>
          <a:stretch/>
        </p:blipFill>
        <p:spPr>
          <a:xfrm>
            <a:off x="571500" y="2124075"/>
            <a:ext cx="3492549" cy="3495526"/>
          </a:xfrm>
          <a:prstGeom prst="rect">
            <a:avLst/>
          </a:prstGeom>
          <a:noFill/>
          <a:ln>
            <a:noFill/>
          </a:ln>
        </p:spPr>
      </p:pic>
      <p:pic>
        <p:nvPicPr>
          <p:cNvPr descr="image.png" id="263" name="Google Shape;263;p26"/>
          <p:cNvPicPr preferRelativeResize="0"/>
          <p:nvPr/>
        </p:nvPicPr>
        <p:blipFill rotWithShape="1">
          <a:blip r:embed="rId5">
            <a:alphaModFix/>
          </a:blip>
          <a:srcRect b="0" l="0" r="0" t="0"/>
          <a:stretch/>
        </p:blipFill>
        <p:spPr>
          <a:xfrm>
            <a:off x="4349799" y="2124075"/>
            <a:ext cx="3492549" cy="3495526"/>
          </a:xfrm>
          <a:prstGeom prst="rect">
            <a:avLst/>
          </a:prstGeom>
          <a:noFill/>
          <a:ln>
            <a:noFill/>
          </a:ln>
        </p:spPr>
      </p:pic>
      <p:pic>
        <p:nvPicPr>
          <p:cNvPr descr="image.png" id="264" name="Google Shape;264;p26"/>
          <p:cNvPicPr preferRelativeResize="0"/>
          <p:nvPr/>
        </p:nvPicPr>
        <p:blipFill rotWithShape="1">
          <a:blip r:embed="rId6">
            <a:alphaModFix/>
          </a:blip>
          <a:srcRect b="0" l="0" r="0" t="0"/>
          <a:stretch/>
        </p:blipFill>
        <p:spPr>
          <a:xfrm>
            <a:off x="8128099" y="2124075"/>
            <a:ext cx="3492549" cy="3495526"/>
          </a:xfrm>
          <a:prstGeom prst="rect">
            <a:avLst/>
          </a:prstGeom>
          <a:noFill/>
          <a:ln>
            <a:noFill/>
          </a:ln>
        </p:spPr>
      </p:pic>
      <p:sp>
        <p:nvSpPr>
          <p:cNvPr id="265" name="Google Shape;265;p26"/>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Types of Machine Learning</a:t>
            </a:r>
            <a:endParaRPr/>
          </a:p>
        </p:txBody>
      </p:sp>
      <p:pic>
        <p:nvPicPr>
          <p:cNvPr descr="image.png" id="266" name="Google Shape;266;p26"/>
          <p:cNvPicPr preferRelativeResize="0"/>
          <p:nvPr/>
        </p:nvPicPr>
        <p:blipFill rotWithShape="1">
          <a:blip r:embed="rId7">
            <a:alphaModFix/>
          </a:blip>
          <a:srcRect b="0" l="0" r="0" t="0"/>
          <a:stretch/>
        </p:blipFill>
        <p:spPr>
          <a:xfrm>
            <a:off x="866775" y="2514600"/>
            <a:ext cx="2901999" cy="561975"/>
          </a:xfrm>
          <a:prstGeom prst="rect">
            <a:avLst/>
          </a:prstGeom>
          <a:noFill/>
          <a:ln>
            <a:noFill/>
          </a:ln>
        </p:spPr>
      </p:pic>
      <p:sp>
        <p:nvSpPr>
          <p:cNvPr id="267" name="Google Shape;267;p26"/>
          <p:cNvSpPr txBox="1"/>
          <p:nvPr/>
        </p:nvSpPr>
        <p:spPr>
          <a:xfrm>
            <a:off x="866775"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Supervised</a:t>
            </a:r>
            <a:endParaRPr/>
          </a:p>
        </p:txBody>
      </p:sp>
      <p:sp>
        <p:nvSpPr>
          <p:cNvPr id="268" name="Google Shape;268;p26"/>
          <p:cNvSpPr txBox="1"/>
          <p:nvPr/>
        </p:nvSpPr>
        <p:spPr>
          <a:xfrm>
            <a:off x="866775"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The model learns from a labeled dataset. We know the 'answers' (labels) and train the model to predict them for new, unseen data (e.g., Classification, Regression).</a:t>
            </a:r>
            <a:endParaRPr/>
          </a:p>
        </p:txBody>
      </p:sp>
      <p:pic>
        <p:nvPicPr>
          <p:cNvPr descr="image.png" id="269" name="Google Shape;269;p26"/>
          <p:cNvPicPr preferRelativeResize="0"/>
          <p:nvPr/>
        </p:nvPicPr>
        <p:blipFill rotWithShape="1">
          <a:blip r:embed="rId7">
            <a:alphaModFix/>
          </a:blip>
          <a:srcRect b="0" l="0" r="0" t="0"/>
          <a:stretch/>
        </p:blipFill>
        <p:spPr>
          <a:xfrm>
            <a:off x="4645074" y="2514600"/>
            <a:ext cx="2901999" cy="561975"/>
          </a:xfrm>
          <a:prstGeom prst="rect">
            <a:avLst/>
          </a:prstGeom>
          <a:noFill/>
          <a:ln>
            <a:noFill/>
          </a:ln>
        </p:spPr>
      </p:pic>
      <p:sp>
        <p:nvSpPr>
          <p:cNvPr id="270" name="Google Shape;270;p26"/>
          <p:cNvSpPr txBox="1"/>
          <p:nvPr/>
        </p:nvSpPr>
        <p:spPr>
          <a:xfrm>
            <a:off x="46450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Unsupervised</a:t>
            </a:r>
            <a:endParaRPr/>
          </a:p>
        </p:txBody>
      </p:sp>
      <p:sp>
        <p:nvSpPr>
          <p:cNvPr id="271" name="Google Shape;271;p26"/>
          <p:cNvSpPr txBox="1"/>
          <p:nvPr/>
        </p:nvSpPr>
        <p:spPr>
          <a:xfrm>
            <a:off x="46450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The model explores unlabeled data to find hidden structures, patterns, or groupings without any explicit feedback (e.g., Clustering, Dimensionality Reduction).</a:t>
            </a:r>
            <a:endParaRPr/>
          </a:p>
        </p:txBody>
      </p:sp>
      <p:pic>
        <p:nvPicPr>
          <p:cNvPr descr="image.png" id="272" name="Google Shape;272;p26"/>
          <p:cNvPicPr preferRelativeResize="0"/>
          <p:nvPr/>
        </p:nvPicPr>
        <p:blipFill rotWithShape="1">
          <a:blip r:embed="rId7">
            <a:alphaModFix/>
          </a:blip>
          <a:srcRect b="0" l="0" r="0" t="0"/>
          <a:stretch/>
        </p:blipFill>
        <p:spPr>
          <a:xfrm>
            <a:off x="8423374" y="2514600"/>
            <a:ext cx="2901999" cy="561975"/>
          </a:xfrm>
          <a:prstGeom prst="rect">
            <a:avLst/>
          </a:prstGeom>
          <a:noFill/>
          <a:ln>
            <a:noFill/>
          </a:ln>
        </p:spPr>
      </p:pic>
      <p:sp>
        <p:nvSpPr>
          <p:cNvPr id="273" name="Google Shape;273;p26"/>
          <p:cNvSpPr txBox="1"/>
          <p:nvPr/>
        </p:nvSpPr>
        <p:spPr>
          <a:xfrm>
            <a:off x="84233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Reinforcement</a:t>
            </a:r>
            <a:endParaRPr/>
          </a:p>
        </p:txBody>
      </p:sp>
      <p:sp>
        <p:nvSpPr>
          <p:cNvPr id="274" name="Google Shape;274;p26"/>
          <p:cNvSpPr txBox="1"/>
          <p:nvPr/>
        </p:nvSpPr>
        <p:spPr>
          <a:xfrm>
            <a:off x="84233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An agent learns to make decisions by performing actions in an environment and receiving rewards or penalties, optimizing its strategy over time.</a:t>
            </a:r>
            <a:endParaRPr/>
          </a:p>
        </p:txBody>
      </p:sp>
      <p:pic>
        <p:nvPicPr>
          <p:cNvPr descr="image.png" id="275" name="Google Shape;275;p26"/>
          <p:cNvPicPr preferRelativeResize="0"/>
          <p:nvPr/>
        </p:nvPicPr>
        <p:blipFill rotWithShape="1">
          <a:blip r:embed="rId8">
            <a:alphaModFix/>
          </a:blip>
          <a:srcRect b="0" l="0" r="0" t="0"/>
          <a:stretch/>
        </p:blipFill>
        <p:spPr>
          <a:xfrm>
            <a:off x="866775" y="2562225"/>
            <a:ext cx="571500" cy="457200"/>
          </a:xfrm>
          <a:prstGeom prst="rect">
            <a:avLst/>
          </a:prstGeom>
          <a:noFill/>
          <a:ln>
            <a:noFill/>
          </a:ln>
        </p:spPr>
      </p:pic>
      <p:pic>
        <p:nvPicPr>
          <p:cNvPr descr="image.png" id="276" name="Google Shape;276;p26"/>
          <p:cNvPicPr preferRelativeResize="0"/>
          <p:nvPr/>
        </p:nvPicPr>
        <p:blipFill rotWithShape="1">
          <a:blip r:embed="rId9">
            <a:alphaModFix/>
          </a:blip>
          <a:srcRect b="0" l="0" r="0" t="0"/>
          <a:stretch/>
        </p:blipFill>
        <p:spPr>
          <a:xfrm>
            <a:off x="4645074" y="2562225"/>
            <a:ext cx="571500" cy="457200"/>
          </a:xfrm>
          <a:prstGeom prst="rect">
            <a:avLst/>
          </a:prstGeom>
          <a:noFill/>
          <a:ln>
            <a:noFill/>
          </a:ln>
        </p:spPr>
      </p:pic>
      <p:pic>
        <p:nvPicPr>
          <p:cNvPr descr="image.png" id="277" name="Google Shape;277;p26"/>
          <p:cNvPicPr preferRelativeResize="0"/>
          <p:nvPr/>
        </p:nvPicPr>
        <p:blipFill rotWithShape="1">
          <a:blip r:embed="rId9">
            <a:alphaModFix/>
          </a:blip>
          <a:srcRect b="0" l="0" r="0" t="0"/>
          <a:stretch/>
        </p:blipFill>
        <p:spPr>
          <a:xfrm>
            <a:off x="8423374" y="2562225"/>
            <a:ext cx="571500"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image.png" id="282" name="Google Shape;282;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3" name="Google Shape;283;p27"/>
          <p:cNvPicPr preferRelativeResize="0"/>
          <p:nvPr/>
        </p:nvPicPr>
        <p:blipFill rotWithShape="1">
          <a:blip r:embed="rId4">
            <a:alphaModFix/>
          </a:blip>
          <a:srcRect b="0" l="0" r="0" t="0"/>
          <a:stretch/>
        </p:blipFill>
        <p:spPr>
          <a:xfrm>
            <a:off x="6286500" y="1871662"/>
            <a:ext cx="5334000" cy="4000500"/>
          </a:xfrm>
          <a:prstGeom prst="rect">
            <a:avLst/>
          </a:prstGeom>
          <a:noFill/>
          <a:ln>
            <a:noFill/>
          </a:ln>
        </p:spPr>
      </p:pic>
      <p:sp>
        <p:nvSpPr>
          <p:cNvPr id="284" name="Google Shape;284;p27"/>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Real-World Uses &amp; Applications</a:t>
            </a:r>
            <a:endParaRPr/>
          </a:p>
        </p:txBody>
      </p:sp>
      <p:sp>
        <p:nvSpPr>
          <p:cNvPr id="285" name="Google Shape;285;p27"/>
          <p:cNvSpPr txBox="1"/>
          <p:nvPr/>
        </p:nvSpPr>
        <p:spPr>
          <a:xfrm>
            <a:off x="857250" y="187166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Predictive Analytics:</a:t>
            </a:r>
            <a:r>
              <a:rPr b="0" i="0" lang="en-US" sz="1350" u="none" cap="none" strike="noStrike">
                <a:solidFill>
                  <a:srgbClr val="CBD5E1"/>
                </a:solidFill>
                <a:latin typeface="Inter"/>
                <a:ea typeface="Inter"/>
                <a:cs typeface="Inter"/>
                <a:sym typeface="Inter"/>
              </a:rPr>
              <a:t> Forecasting sales, stock market trends, or equipment failures before they happen.</a:t>
            </a:r>
            <a:endParaRPr/>
          </a:p>
        </p:txBody>
      </p:sp>
      <p:sp>
        <p:nvSpPr>
          <p:cNvPr id="286" name="Google Shape;286;p27"/>
          <p:cNvSpPr txBox="1"/>
          <p:nvPr/>
        </p:nvSpPr>
        <p:spPr>
          <a:xfrm>
            <a:off x="857250" y="2610742"/>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Healthcare Diagnostics:</a:t>
            </a:r>
            <a:r>
              <a:rPr b="0" i="0" lang="en-US" sz="1350" u="none" cap="none" strike="noStrike">
                <a:solidFill>
                  <a:srgbClr val="CBD5E1"/>
                </a:solidFill>
                <a:latin typeface="Inter"/>
                <a:ea typeface="Inter"/>
                <a:cs typeface="Inter"/>
                <a:sym typeface="Inter"/>
              </a:rPr>
              <a:t> Identifying anomalies in medical imaging, predicting patient readmissions, and personalized medicine.</a:t>
            </a:r>
            <a:endParaRPr/>
          </a:p>
        </p:txBody>
      </p:sp>
      <p:sp>
        <p:nvSpPr>
          <p:cNvPr id="287" name="Google Shape;287;p27"/>
          <p:cNvSpPr txBox="1"/>
          <p:nvPr/>
        </p:nvSpPr>
        <p:spPr>
          <a:xfrm>
            <a:off x="857250" y="362411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Recommendation Systems:</a:t>
            </a:r>
            <a:r>
              <a:rPr b="0" i="0" lang="en-US" sz="1350" u="none" cap="none" strike="noStrike">
                <a:solidFill>
                  <a:srgbClr val="CBD5E1"/>
                </a:solidFill>
                <a:latin typeface="Inter"/>
                <a:ea typeface="Inter"/>
                <a:cs typeface="Inter"/>
                <a:sym typeface="Inter"/>
              </a:rPr>
              <a:t> Powering the algorithms behind Netflix, Amazon, and Spotify to suggest content.</a:t>
            </a:r>
            <a:endParaRPr/>
          </a:p>
        </p:txBody>
      </p:sp>
      <p:sp>
        <p:nvSpPr>
          <p:cNvPr id="288" name="Google Shape;288;p27"/>
          <p:cNvSpPr txBox="1"/>
          <p:nvPr/>
        </p:nvSpPr>
        <p:spPr>
          <a:xfrm>
            <a:off x="857250" y="4363194"/>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Fraud Detection:</a:t>
            </a:r>
            <a:r>
              <a:rPr b="0" i="0" lang="en-US" sz="1350" u="none" cap="none" strike="noStrike">
                <a:solidFill>
                  <a:srgbClr val="CBD5E1"/>
                </a:solidFill>
                <a:latin typeface="Inter"/>
                <a:ea typeface="Inter"/>
                <a:cs typeface="Inter"/>
                <a:sym typeface="Inter"/>
              </a:rPr>
              <a:t> Analyzing transaction patterns in real-time to flag anomalous banking behavior instantly.</a:t>
            </a:r>
            <a:endParaRPr/>
          </a:p>
        </p:txBody>
      </p:sp>
      <p:pic>
        <p:nvPicPr>
          <p:cNvPr descr="image.png" id="289" name="Google Shape;289;p27"/>
          <p:cNvPicPr preferRelativeResize="0"/>
          <p:nvPr/>
        </p:nvPicPr>
        <p:blipFill rotWithShape="1">
          <a:blip r:embed="rId5">
            <a:alphaModFix/>
          </a:blip>
          <a:srcRect b="0" l="0" r="0" t="0"/>
          <a:stretch/>
        </p:blipFill>
        <p:spPr>
          <a:xfrm>
            <a:off x="6296025" y="1881187"/>
            <a:ext cx="5314950" cy="3981450"/>
          </a:xfrm>
          <a:prstGeom prst="rect">
            <a:avLst/>
          </a:prstGeom>
          <a:noFill/>
          <a:ln>
            <a:noFill/>
          </a:ln>
        </p:spPr>
      </p:pic>
      <p:sp>
        <p:nvSpPr>
          <p:cNvPr id="290" name="Google Shape;290;p27"/>
          <p:cNvSpPr txBox="1"/>
          <p:nvPr/>
        </p:nvSpPr>
        <p:spPr>
          <a:xfrm>
            <a:off x="571500" y="185261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291" name="Google Shape;291;p27"/>
          <p:cNvSpPr txBox="1"/>
          <p:nvPr/>
        </p:nvSpPr>
        <p:spPr>
          <a:xfrm>
            <a:off x="571500" y="259169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292" name="Google Shape;292;p27"/>
          <p:cNvSpPr txBox="1"/>
          <p:nvPr/>
        </p:nvSpPr>
        <p:spPr>
          <a:xfrm>
            <a:off x="571500" y="360506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293" name="Google Shape;293;p27"/>
          <p:cNvSpPr txBox="1"/>
          <p:nvPr/>
        </p:nvSpPr>
        <p:spPr>
          <a:xfrm>
            <a:off x="571500" y="4344144"/>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descr="image.png" id="298" name="Google Shape;298;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9" name="Google Shape;299;p28"/>
          <p:cNvPicPr preferRelativeResize="0"/>
          <p:nvPr/>
        </p:nvPicPr>
        <p:blipFill rotWithShape="1">
          <a:blip r:embed="rId4">
            <a:alphaModFix/>
          </a:blip>
          <a:srcRect b="0" l="0" r="0" t="0"/>
          <a:stretch/>
        </p:blipFill>
        <p:spPr>
          <a:xfrm>
            <a:off x="1333500" y="1783556"/>
            <a:ext cx="9525000" cy="4176712"/>
          </a:xfrm>
          <a:prstGeom prst="rect">
            <a:avLst/>
          </a:prstGeom>
          <a:noFill/>
          <a:ln>
            <a:noFill/>
          </a:ln>
        </p:spPr>
      </p:pic>
      <p:sp>
        <p:nvSpPr>
          <p:cNvPr id="300" name="Google Shape;300;p28"/>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Common ML Problems &amp; Limitations</a:t>
            </a:r>
            <a:endParaRPr/>
          </a:p>
        </p:txBody>
      </p:sp>
      <p:sp>
        <p:nvSpPr>
          <p:cNvPr id="301" name="Google Shape;301;p28"/>
          <p:cNvSpPr txBox="1"/>
          <p:nvPr/>
        </p:nvSpPr>
        <p:spPr>
          <a:xfrm>
            <a:off x="2295525" y="217408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Data Quality &amp; Bias:</a:t>
            </a:r>
            <a:r>
              <a:rPr b="0" i="0" lang="en-US" sz="1650" u="none" cap="none" strike="noStrike">
                <a:solidFill>
                  <a:srgbClr val="CBD5E1"/>
                </a:solidFill>
                <a:latin typeface="Inter"/>
                <a:ea typeface="Inter"/>
                <a:cs typeface="Inter"/>
                <a:sym typeface="Inter"/>
              </a:rPr>
              <a:t> Models are only as good as their data. Poorly labeled, incomplete, or biased data will result in inaccurate or prejudiced predictions.</a:t>
            </a:r>
            <a:endParaRPr/>
          </a:p>
        </p:txBody>
      </p:sp>
      <p:sp>
        <p:nvSpPr>
          <p:cNvPr id="302" name="Google Shape;302;p28"/>
          <p:cNvSpPr txBox="1"/>
          <p:nvPr/>
        </p:nvSpPr>
        <p:spPr>
          <a:xfrm>
            <a:off x="2295525" y="3082528"/>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Overfitting &amp; Underfitting:</a:t>
            </a:r>
            <a:r>
              <a:rPr b="0" i="0" lang="en-US" sz="1650" u="none" cap="none" strike="noStrike">
                <a:solidFill>
                  <a:srgbClr val="CBD5E1"/>
                </a:solidFill>
                <a:latin typeface="Inter"/>
                <a:ea typeface="Inter"/>
                <a:cs typeface="Inter"/>
                <a:sym typeface="Inter"/>
              </a:rPr>
              <a:t> Overfitting occurs when a model memorizes training data but fails on new data. Underfitting means it hasn't learned the patterns at all.</a:t>
            </a:r>
            <a:endParaRPr/>
          </a:p>
        </p:txBody>
      </p:sp>
      <p:sp>
        <p:nvSpPr>
          <p:cNvPr id="303" name="Google Shape;303;p28"/>
          <p:cNvSpPr txBox="1"/>
          <p:nvPr/>
        </p:nvSpPr>
        <p:spPr>
          <a:xfrm>
            <a:off x="2295525" y="3990975"/>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High Compute Requirements:</a:t>
            </a:r>
            <a:r>
              <a:rPr b="0" i="0" lang="en-US" sz="1650" u="none" cap="none" strike="noStrike">
                <a:solidFill>
                  <a:srgbClr val="CBD5E1"/>
                </a:solidFill>
                <a:latin typeface="Inter"/>
                <a:ea typeface="Inter"/>
                <a:cs typeface="Inter"/>
                <a:sym typeface="Inter"/>
              </a:rPr>
              <a:t> Advanced models, especially deep learning networks, require massive GPU resources and time to train effectively.</a:t>
            </a:r>
            <a:endParaRPr/>
          </a:p>
        </p:txBody>
      </p:sp>
      <p:sp>
        <p:nvSpPr>
          <p:cNvPr id="304" name="Google Shape;304;p28"/>
          <p:cNvSpPr txBox="1"/>
          <p:nvPr/>
        </p:nvSpPr>
        <p:spPr>
          <a:xfrm>
            <a:off x="2295525" y="489942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The "Black Box" Problem:</a:t>
            </a:r>
            <a:r>
              <a:rPr b="0" i="0" lang="en-US" sz="1650" u="none" cap="none" strike="noStrike">
                <a:solidFill>
                  <a:srgbClr val="CBD5E1"/>
                </a:solidFill>
                <a:latin typeface="Inter"/>
                <a:ea typeface="Inter"/>
                <a:cs typeface="Inter"/>
                <a:sym typeface="Inter"/>
              </a:rPr>
              <a:t> Many complex algorithms do not easily explain *how* they arrived at a decision, creating challenges in fields requiring strict auditability.</a:t>
            </a:r>
            <a:endParaRPr/>
          </a:p>
        </p:txBody>
      </p:sp>
      <p:pic>
        <p:nvPicPr>
          <p:cNvPr descr="image.png" id="305" name="Google Shape;305;p28"/>
          <p:cNvPicPr preferRelativeResize="0"/>
          <p:nvPr/>
        </p:nvPicPr>
        <p:blipFill rotWithShape="1">
          <a:blip r:embed="rId5">
            <a:alphaModFix/>
          </a:blip>
          <a:srcRect b="0" l="0" r="0" t="0"/>
          <a:stretch/>
        </p:blipFill>
        <p:spPr>
          <a:xfrm>
            <a:off x="1819275" y="2188368"/>
            <a:ext cx="266700" cy="276225"/>
          </a:xfrm>
          <a:prstGeom prst="rect">
            <a:avLst/>
          </a:prstGeom>
          <a:noFill/>
          <a:ln>
            <a:noFill/>
          </a:ln>
        </p:spPr>
      </p:pic>
      <p:pic>
        <p:nvPicPr>
          <p:cNvPr descr="image.png" id="306" name="Google Shape;306;p28"/>
          <p:cNvPicPr preferRelativeResize="0"/>
          <p:nvPr/>
        </p:nvPicPr>
        <p:blipFill rotWithShape="1">
          <a:blip r:embed="rId5">
            <a:alphaModFix/>
          </a:blip>
          <a:srcRect b="0" l="0" r="0" t="0"/>
          <a:stretch/>
        </p:blipFill>
        <p:spPr>
          <a:xfrm>
            <a:off x="1819275" y="3096815"/>
            <a:ext cx="266700" cy="276225"/>
          </a:xfrm>
          <a:prstGeom prst="rect">
            <a:avLst/>
          </a:prstGeom>
          <a:noFill/>
          <a:ln>
            <a:noFill/>
          </a:ln>
        </p:spPr>
      </p:pic>
      <p:pic>
        <p:nvPicPr>
          <p:cNvPr descr="image.png" id="307" name="Google Shape;307;p28"/>
          <p:cNvPicPr preferRelativeResize="0"/>
          <p:nvPr/>
        </p:nvPicPr>
        <p:blipFill rotWithShape="1">
          <a:blip r:embed="rId5">
            <a:alphaModFix/>
          </a:blip>
          <a:srcRect b="0" l="0" r="0" t="0"/>
          <a:stretch/>
        </p:blipFill>
        <p:spPr>
          <a:xfrm>
            <a:off x="1819275" y="4005262"/>
            <a:ext cx="266700" cy="276225"/>
          </a:xfrm>
          <a:prstGeom prst="rect">
            <a:avLst/>
          </a:prstGeom>
          <a:noFill/>
          <a:ln>
            <a:noFill/>
          </a:ln>
        </p:spPr>
      </p:pic>
      <p:pic>
        <p:nvPicPr>
          <p:cNvPr descr="image.png" id="308" name="Google Shape;308;p28"/>
          <p:cNvPicPr preferRelativeResize="0"/>
          <p:nvPr/>
        </p:nvPicPr>
        <p:blipFill rotWithShape="1">
          <a:blip r:embed="rId5">
            <a:alphaModFix/>
          </a:blip>
          <a:srcRect b="0" l="0" r="0" t="0"/>
          <a:stretch/>
        </p:blipFill>
        <p:spPr>
          <a:xfrm>
            <a:off x="1819275" y="4913709"/>
            <a:ext cx="266700" cy="276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image.png" id="313" name="Google Shape;31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4" name="Google Shape;314;p29"/>
          <p:cNvSpPr txBox="1"/>
          <p:nvPr/>
        </p:nvSpPr>
        <p:spPr>
          <a:xfrm>
            <a:off x="4790836" y="3012727"/>
            <a:ext cx="2610326"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4</a:t>
            </a:r>
            <a:endParaRPr/>
          </a:p>
        </p:txBody>
      </p:sp>
      <p:sp>
        <p:nvSpPr>
          <p:cNvPr id="315" name="Google Shape;315;p29"/>
          <p:cNvSpPr txBox="1"/>
          <p:nvPr/>
        </p:nvSpPr>
        <p:spPr>
          <a:xfrm>
            <a:off x="4852987" y="4108102"/>
            <a:ext cx="24860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Database Management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image.png" id="320" name="Google Shape;320;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1" name="Google Shape;321;p30"/>
          <p:cNvPicPr preferRelativeResize="0"/>
          <p:nvPr/>
        </p:nvPicPr>
        <p:blipFill rotWithShape="1">
          <a:blip r:embed="rId4">
            <a:alphaModFix/>
          </a:blip>
          <a:srcRect b="0" l="0" r="0" t="0"/>
          <a:stretch/>
        </p:blipFill>
        <p:spPr>
          <a:xfrm>
            <a:off x="6286500" y="1871662"/>
            <a:ext cx="5334000" cy="4000500"/>
          </a:xfrm>
          <a:prstGeom prst="rect">
            <a:avLst/>
          </a:prstGeom>
          <a:noFill/>
          <a:ln>
            <a:noFill/>
          </a:ln>
        </p:spPr>
      </p:pic>
      <p:sp>
        <p:nvSpPr>
          <p:cNvPr id="322" name="Google Shape;322;p30"/>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MySQL &amp; Workbench Overview</a:t>
            </a:r>
            <a:endParaRPr/>
          </a:p>
        </p:txBody>
      </p:sp>
      <p:sp>
        <p:nvSpPr>
          <p:cNvPr id="323" name="Google Shape;323;p30"/>
          <p:cNvSpPr txBox="1"/>
          <p:nvPr/>
        </p:nvSpPr>
        <p:spPr>
          <a:xfrm>
            <a:off x="857250" y="1871662"/>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MySQL:</a:t>
            </a:r>
            <a:r>
              <a:rPr b="0" i="0" lang="en-US" sz="1350" u="none" cap="none" strike="noStrike">
                <a:solidFill>
                  <a:srgbClr val="CBD5E1"/>
                </a:solidFill>
                <a:latin typeface="Inter"/>
                <a:ea typeface="Inter"/>
                <a:cs typeface="Inter"/>
                <a:sym typeface="Inter"/>
              </a:rPr>
              <a:t> A highly popular, open-source Relational Database Management System (RDBMS) that uses Structured Query Language (SQL) for managing data.</a:t>
            </a:r>
            <a:endParaRPr/>
          </a:p>
        </p:txBody>
      </p:sp>
      <p:sp>
        <p:nvSpPr>
          <p:cNvPr id="324" name="Google Shape;324;p30"/>
          <p:cNvSpPr txBox="1"/>
          <p:nvPr/>
        </p:nvSpPr>
        <p:spPr>
          <a:xfrm>
            <a:off x="857250" y="2885033"/>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MySQL Workbench:</a:t>
            </a:r>
            <a:r>
              <a:rPr b="0" i="0" lang="en-US" sz="1350" u="none" cap="none" strike="noStrike">
                <a:solidFill>
                  <a:srgbClr val="CBD5E1"/>
                </a:solidFill>
                <a:latin typeface="Inter"/>
                <a:ea typeface="Inter"/>
                <a:cs typeface="Inter"/>
                <a:sym typeface="Inter"/>
              </a:rPr>
              <a:t> A unified visual tool providing data modeling, SQL development, and comprehensive administration tools for server configuration.</a:t>
            </a:r>
            <a:endParaRPr/>
          </a:p>
        </p:txBody>
      </p:sp>
      <p:sp>
        <p:nvSpPr>
          <p:cNvPr id="325" name="Google Shape;325;p30"/>
          <p:cNvSpPr txBox="1"/>
          <p:nvPr/>
        </p:nvSpPr>
        <p:spPr>
          <a:xfrm>
            <a:off x="857250" y="389840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Features:</a:t>
            </a:r>
            <a:r>
              <a:rPr b="0" i="0" lang="en-US" sz="1350" u="none" cap="none" strike="noStrike">
                <a:solidFill>
                  <a:srgbClr val="CBD5E1"/>
                </a:solidFill>
                <a:latin typeface="Inter"/>
                <a:ea typeface="Inter"/>
                <a:cs typeface="Inter"/>
                <a:sym typeface="Inter"/>
              </a:rPr>
              <a:t> High performance, ACID compliance, robust data security layers, and seamless client-server architecture.</a:t>
            </a:r>
            <a:endParaRPr/>
          </a:p>
        </p:txBody>
      </p:sp>
      <p:sp>
        <p:nvSpPr>
          <p:cNvPr id="326" name="Google Shape;326;p30"/>
          <p:cNvSpPr txBox="1"/>
          <p:nvPr/>
        </p:nvSpPr>
        <p:spPr>
          <a:xfrm>
            <a:off x="857250" y="4637484"/>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Usage:</a:t>
            </a:r>
            <a:r>
              <a:rPr b="0" i="0" lang="en-US" sz="1350" u="none" cap="none" strike="noStrike">
                <a:solidFill>
                  <a:srgbClr val="CBD5E1"/>
                </a:solidFill>
                <a:latin typeface="Inter"/>
                <a:ea typeface="Inter"/>
                <a:cs typeface="Inter"/>
                <a:sym typeface="Inter"/>
              </a:rPr>
              <a:t> Serves as the reliable storage backend where raw data and processed results are securely archived and queried.</a:t>
            </a:r>
            <a:endParaRPr/>
          </a:p>
        </p:txBody>
      </p:sp>
      <p:pic>
        <p:nvPicPr>
          <p:cNvPr descr="image.png" id="327" name="Google Shape;327;p30"/>
          <p:cNvPicPr preferRelativeResize="0"/>
          <p:nvPr/>
        </p:nvPicPr>
        <p:blipFill rotWithShape="1">
          <a:blip r:embed="rId5">
            <a:alphaModFix/>
          </a:blip>
          <a:srcRect b="0" l="0" r="0" t="0"/>
          <a:stretch/>
        </p:blipFill>
        <p:spPr>
          <a:xfrm>
            <a:off x="6296025" y="1881187"/>
            <a:ext cx="5314950" cy="3981450"/>
          </a:xfrm>
          <a:prstGeom prst="rect">
            <a:avLst/>
          </a:prstGeom>
          <a:noFill/>
          <a:ln>
            <a:noFill/>
          </a:ln>
        </p:spPr>
      </p:pic>
      <p:sp>
        <p:nvSpPr>
          <p:cNvPr id="328" name="Google Shape;328;p30"/>
          <p:cNvSpPr txBox="1"/>
          <p:nvPr/>
        </p:nvSpPr>
        <p:spPr>
          <a:xfrm>
            <a:off x="571500" y="185261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329" name="Google Shape;329;p30"/>
          <p:cNvSpPr txBox="1"/>
          <p:nvPr/>
        </p:nvSpPr>
        <p:spPr>
          <a:xfrm>
            <a:off x="571500" y="286598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330" name="Google Shape;330;p30"/>
          <p:cNvSpPr txBox="1"/>
          <p:nvPr/>
        </p:nvSpPr>
        <p:spPr>
          <a:xfrm>
            <a:off x="571500" y="387935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331" name="Google Shape;331;p30"/>
          <p:cNvSpPr txBox="1"/>
          <p:nvPr/>
        </p:nvSpPr>
        <p:spPr>
          <a:xfrm>
            <a:off x="571500" y="4618434"/>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image.png" id="336" name="Google Shape;336;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7" name="Google Shape;337;p31"/>
          <p:cNvPicPr preferRelativeResize="0"/>
          <p:nvPr/>
        </p:nvPicPr>
        <p:blipFill rotWithShape="1">
          <a:blip r:embed="rId4">
            <a:alphaModFix/>
          </a:blip>
          <a:srcRect b="0" l="0" r="0" t="0"/>
          <a:stretch/>
        </p:blipFill>
        <p:spPr>
          <a:xfrm>
            <a:off x="571500" y="2471737"/>
            <a:ext cx="5334000" cy="2800201"/>
          </a:xfrm>
          <a:prstGeom prst="rect">
            <a:avLst/>
          </a:prstGeom>
          <a:noFill/>
          <a:ln>
            <a:noFill/>
          </a:ln>
        </p:spPr>
      </p:pic>
      <p:pic>
        <p:nvPicPr>
          <p:cNvPr descr="image.png" id="338" name="Google Shape;338;p31"/>
          <p:cNvPicPr preferRelativeResize="0"/>
          <p:nvPr/>
        </p:nvPicPr>
        <p:blipFill rotWithShape="1">
          <a:blip r:embed="rId5">
            <a:alphaModFix/>
          </a:blip>
          <a:srcRect b="0" l="0" r="0" t="0"/>
          <a:stretch/>
        </p:blipFill>
        <p:spPr>
          <a:xfrm>
            <a:off x="6286500" y="2471737"/>
            <a:ext cx="5334000" cy="2800201"/>
          </a:xfrm>
          <a:prstGeom prst="rect">
            <a:avLst/>
          </a:prstGeom>
          <a:noFill/>
          <a:ln>
            <a:noFill/>
          </a:ln>
        </p:spPr>
      </p:pic>
      <p:sp>
        <p:nvSpPr>
          <p:cNvPr id="339" name="Google Shape;339;p31"/>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Advantages of Relational Databases</a:t>
            </a:r>
            <a:endParaRPr/>
          </a:p>
        </p:txBody>
      </p:sp>
      <p:sp>
        <p:nvSpPr>
          <p:cNvPr id="340" name="Google Shape;340;p31"/>
          <p:cNvSpPr txBox="1"/>
          <p:nvPr/>
        </p:nvSpPr>
        <p:spPr>
          <a:xfrm>
            <a:off x="962025" y="2862262"/>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Data Integrity</a:t>
            </a:r>
            <a:endParaRPr/>
          </a:p>
        </p:txBody>
      </p:sp>
      <p:sp>
        <p:nvSpPr>
          <p:cNvPr id="341" name="Google Shape;341;p31"/>
          <p:cNvSpPr txBox="1"/>
          <p:nvPr/>
        </p:nvSpPr>
        <p:spPr>
          <a:xfrm>
            <a:off x="962025" y="3509962"/>
            <a:ext cx="45529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Relational databases enforce strict rules (Primary Keys, Foreign Keys, constraints) ensuring data consistency. Transactions guarantee that operations are either fully completed or completely rolled back, preventing corrupted states.</a:t>
            </a:r>
            <a:endParaRPr/>
          </a:p>
        </p:txBody>
      </p:sp>
      <p:sp>
        <p:nvSpPr>
          <p:cNvPr id="342" name="Google Shape;342;p31"/>
          <p:cNvSpPr txBox="1"/>
          <p:nvPr/>
        </p:nvSpPr>
        <p:spPr>
          <a:xfrm>
            <a:off x="6677025" y="2862262"/>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Scalability &amp; Query Power</a:t>
            </a:r>
            <a:endParaRPr/>
          </a:p>
        </p:txBody>
      </p:sp>
      <p:sp>
        <p:nvSpPr>
          <p:cNvPr id="343" name="Google Shape;343;p31"/>
          <p:cNvSpPr txBox="1"/>
          <p:nvPr/>
        </p:nvSpPr>
        <p:spPr>
          <a:xfrm>
            <a:off x="6677025" y="3509962"/>
            <a:ext cx="455295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With indexing and optimization, SQL can filter millions of rows in milliseconds. This structured approach allows complex joins, making it incredibly efficient for aggregating historical data for machine learning tasks.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image.png" id="348" name="Google Shape;34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9" name="Google Shape;349;p32"/>
          <p:cNvSpPr txBox="1"/>
          <p:nvPr/>
        </p:nvSpPr>
        <p:spPr>
          <a:xfrm>
            <a:off x="4800838" y="3012727"/>
            <a:ext cx="2590323"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5</a:t>
            </a:r>
            <a:endParaRPr/>
          </a:p>
        </p:txBody>
      </p:sp>
      <p:sp>
        <p:nvSpPr>
          <p:cNvPr id="350" name="Google Shape;350;p32"/>
          <p:cNvSpPr txBox="1"/>
          <p:nvPr/>
        </p:nvSpPr>
        <p:spPr>
          <a:xfrm>
            <a:off x="4090987" y="4108102"/>
            <a:ext cx="40100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Real-World Data Processing (Kaggle)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descr="image.png" id="355" name="Google Shape;355;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6" name="Google Shape;356;p33"/>
          <p:cNvPicPr preferRelativeResize="0"/>
          <p:nvPr/>
        </p:nvPicPr>
        <p:blipFill rotWithShape="1">
          <a:blip r:embed="rId4">
            <a:alphaModFix/>
          </a:blip>
          <a:srcRect b="0" l="0" r="0" t="0"/>
          <a:stretch/>
        </p:blipFill>
        <p:spPr>
          <a:xfrm>
            <a:off x="1333500" y="1783556"/>
            <a:ext cx="9525000" cy="4176712"/>
          </a:xfrm>
          <a:prstGeom prst="rect">
            <a:avLst/>
          </a:prstGeom>
          <a:noFill/>
          <a:ln>
            <a:noFill/>
          </a:ln>
        </p:spPr>
      </p:pic>
      <p:sp>
        <p:nvSpPr>
          <p:cNvPr id="357" name="Google Shape;357;p33"/>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Handling Kaggle Datasets</a:t>
            </a:r>
            <a:endParaRPr/>
          </a:p>
        </p:txBody>
      </p:sp>
      <p:sp>
        <p:nvSpPr>
          <p:cNvPr id="358" name="Google Shape;358;p33"/>
          <p:cNvSpPr txBox="1"/>
          <p:nvPr/>
        </p:nvSpPr>
        <p:spPr>
          <a:xfrm>
            <a:off x="2295525" y="217408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Importing Diverse Data:</a:t>
            </a:r>
            <a:r>
              <a:rPr b="0" i="0" lang="en-US" sz="1650" u="none" cap="none" strike="noStrike">
                <a:solidFill>
                  <a:srgbClr val="CBD5E1"/>
                </a:solidFill>
                <a:latin typeface="Inter"/>
                <a:ea typeface="Inter"/>
                <a:cs typeface="Inter"/>
                <a:sym typeface="Inter"/>
              </a:rPr>
              <a:t> Extracted large-scale CSVs and text files from Kaggle to simulate real-world, messy data environments.</a:t>
            </a:r>
            <a:endParaRPr/>
          </a:p>
        </p:txBody>
      </p:sp>
      <p:sp>
        <p:nvSpPr>
          <p:cNvPr id="359" name="Google Shape;359;p33"/>
          <p:cNvSpPr txBox="1"/>
          <p:nvPr/>
        </p:nvSpPr>
        <p:spPr>
          <a:xfrm>
            <a:off x="2295525" y="3082528"/>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Data Cleaning:</a:t>
            </a:r>
            <a:r>
              <a:rPr b="0" i="0" lang="en-US" sz="1650" u="none" cap="none" strike="noStrike">
                <a:solidFill>
                  <a:srgbClr val="CBD5E1"/>
                </a:solidFill>
                <a:latin typeface="Inter"/>
                <a:ea typeface="Inter"/>
                <a:cs typeface="Inter"/>
                <a:sym typeface="Inter"/>
              </a:rPr>
              <a:t> Raw data is rarely perfect. Missing values (NaN), duplicates, and incorrect formats had to be systematically addressed using Pandas.</a:t>
            </a:r>
            <a:endParaRPr/>
          </a:p>
        </p:txBody>
      </p:sp>
      <p:sp>
        <p:nvSpPr>
          <p:cNvPr id="360" name="Google Shape;360;p33"/>
          <p:cNvSpPr txBox="1"/>
          <p:nvPr/>
        </p:nvSpPr>
        <p:spPr>
          <a:xfrm>
            <a:off x="2295525" y="3990975"/>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Scripting Automation:</a:t>
            </a:r>
            <a:r>
              <a:rPr b="0" i="0" lang="en-US" sz="1650" u="none" cap="none" strike="noStrike">
                <a:solidFill>
                  <a:srgbClr val="CBD5E1"/>
                </a:solidFill>
                <a:latin typeface="Inter"/>
                <a:ea typeface="Inter"/>
                <a:cs typeface="Inter"/>
                <a:sym typeface="Inter"/>
              </a:rPr>
              <a:t> Developed Python scripts to automatically ingest files, standardizing column headers and data types across different datasets.</a:t>
            </a:r>
            <a:endParaRPr/>
          </a:p>
        </p:txBody>
      </p:sp>
      <p:sp>
        <p:nvSpPr>
          <p:cNvPr id="361" name="Google Shape;361;p33"/>
          <p:cNvSpPr txBox="1"/>
          <p:nvPr/>
        </p:nvSpPr>
        <p:spPr>
          <a:xfrm>
            <a:off x="2295525" y="489942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Target Extraction:</a:t>
            </a:r>
            <a:r>
              <a:rPr b="0" i="0" lang="en-US" sz="1650" u="none" cap="none" strike="noStrike">
                <a:solidFill>
                  <a:srgbClr val="CBD5E1"/>
                </a:solidFill>
                <a:latin typeface="Inter"/>
                <a:ea typeface="Inter"/>
                <a:cs typeface="Inter"/>
                <a:sym typeface="Inter"/>
              </a:rPr>
              <a:t> Isolated the specific features (columns) required for analysis while discarding redundant metadata to optimize processing speed.</a:t>
            </a:r>
            <a:endParaRPr/>
          </a:p>
        </p:txBody>
      </p:sp>
      <p:pic>
        <p:nvPicPr>
          <p:cNvPr descr="image.png" id="362" name="Google Shape;362;p33"/>
          <p:cNvPicPr preferRelativeResize="0"/>
          <p:nvPr/>
        </p:nvPicPr>
        <p:blipFill rotWithShape="1">
          <a:blip r:embed="rId5">
            <a:alphaModFix/>
          </a:blip>
          <a:srcRect b="0" l="0" r="0" t="0"/>
          <a:stretch/>
        </p:blipFill>
        <p:spPr>
          <a:xfrm>
            <a:off x="1819275" y="2188368"/>
            <a:ext cx="266700" cy="276225"/>
          </a:xfrm>
          <a:prstGeom prst="rect">
            <a:avLst/>
          </a:prstGeom>
          <a:noFill/>
          <a:ln>
            <a:noFill/>
          </a:ln>
        </p:spPr>
      </p:pic>
      <p:pic>
        <p:nvPicPr>
          <p:cNvPr descr="image.png" id="363" name="Google Shape;363;p33"/>
          <p:cNvPicPr preferRelativeResize="0"/>
          <p:nvPr/>
        </p:nvPicPr>
        <p:blipFill rotWithShape="1">
          <a:blip r:embed="rId6">
            <a:alphaModFix/>
          </a:blip>
          <a:srcRect b="0" l="0" r="0" t="0"/>
          <a:stretch/>
        </p:blipFill>
        <p:spPr>
          <a:xfrm>
            <a:off x="1819275" y="3096815"/>
            <a:ext cx="304800" cy="276225"/>
          </a:xfrm>
          <a:prstGeom prst="rect">
            <a:avLst/>
          </a:prstGeom>
          <a:noFill/>
          <a:ln>
            <a:noFill/>
          </a:ln>
        </p:spPr>
      </p:pic>
      <p:pic>
        <p:nvPicPr>
          <p:cNvPr descr="image.png" id="364" name="Google Shape;364;p33"/>
          <p:cNvPicPr preferRelativeResize="0"/>
          <p:nvPr/>
        </p:nvPicPr>
        <p:blipFill rotWithShape="1">
          <a:blip r:embed="rId7">
            <a:alphaModFix/>
          </a:blip>
          <a:srcRect b="0" l="0" r="0" t="0"/>
          <a:stretch/>
        </p:blipFill>
        <p:spPr>
          <a:xfrm>
            <a:off x="1819275" y="4005262"/>
            <a:ext cx="333375" cy="276225"/>
          </a:xfrm>
          <a:prstGeom prst="rect">
            <a:avLst/>
          </a:prstGeom>
          <a:noFill/>
          <a:ln>
            <a:noFill/>
          </a:ln>
        </p:spPr>
      </p:pic>
      <p:pic>
        <p:nvPicPr>
          <p:cNvPr descr="image.png" id="365" name="Google Shape;365;p33"/>
          <p:cNvPicPr preferRelativeResize="0"/>
          <p:nvPr/>
        </p:nvPicPr>
        <p:blipFill rotWithShape="1">
          <a:blip r:embed="rId8">
            <a:alphaModFix/>
          </a:blip>
          <a:srcRect b="0" l="0" r="0" t="0"/>
          <a:stretch/>
        </p:blipFill>
        <p:spPr>
          <a:xfrm>
            <a:off x="1819275" y="4913709"/>
            <a:ext cx="266700" cy="276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descr="image.png" id="370" name="Google Shape;370;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1" name="Google Shape;371;p34"/>
          <p:cNvPicPr preferRelativeResize="0"/>
          <p:nvPr/>
        </p:nvPicPr>
        <p:blipFill rotWithShape="1">
          <a:blip r:embed="rId4">
            <a:alphaModFix/>
          </a:blip>
          <a:srcRect b="0" l="0" r="0" t="0"/>
          <a:stretch/>
        </p:blipFill>
        <p:spPr>
          <a:xfrm>
            <a:off x="571500" y="2124075"/>
            <a:ext cx="3492549" cy="3495526"/>
          </a:xfrm>
          <a:prstGeom prst="rect">
            <a:avLst/>
          </a:prstGeom>
          <a:noFill/>
          <a:ln>
            <a:noFill/>
          </a:ln>
        </p:spPr>
      </p:pic>
      <p:pic>
        <p:nvPicPr>
          <p:cNvPr descr="image.png" id="372" name="Google Shape;372;p34"/>
          <p:cNvPicPr preferRelativeResize="0"/>
          <p:nvPr/>
        </p:nvPicPr>
        <p:blipFill rotWithShape="1">
          <a:blip r:embed="rId5">
            <a:alphaModFix/>
          </a:blip>
          <a:srcRect b="0" l="0" r="0" t="0"/>
          <a:stretch/>
        </p:blipFill>
        <p:spPr>
          <a:xfrm>
            <a:off x="4349799" y="2124075"/>
            <a:ext cx="3492549" cy="3495526"/>
          </a:xfrm>
          <a:prstGeom prst="rect">
            <a:avLst/>
          </a:prstGeom>
          <a:noFill/>
          <a:ln>
            <a:noFill/>
          </a:ln>
        </p:spPr>
      </p:pic>
      <p:pic>
        <p:nvPicPr>
          <p:cNvPr descr="image.png" id="373" name="Google Shape;373;p34"/>
          <p:cNvPicPr preferRelativeResize="0"/>
          <p:nvPr/>
        </p:nvPicPr>
        <p:blipFill rotWithShape="1">
          <a:blip r:embed="rId6">
            <a:alphaModFix/>
          </a:blip>
          <a:srcRect b="0" l="0" r="0" t="0"/>
          <a:stretch/>
        </p:blipFill>
        <p:spPr>
          <a:xfrm>
            <a:off x="8128099" y="2124075"/>
            <a:ext cx="3492549" cy="3495526"/>
          </a:xfrm>
          <a:prstGeom prst="rect">
            <a:avLst/>
          </a:prstGeom>
          <a:noFill/>
          <a:ln>
            <a:noFill/>
          </a:ln>
        </p:spPr>
      </p:pic>
      <p:sp>
        <p:nvSpPr>
          <p:cNvPr id="374" name="Google Shape;374;p34"/>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Core Data Operations in Python</a:t>
            </a:r>
            <a:endParaRPr/>
          </a:p>
        </p:txBody>
      </p:sp>
      <p:pic>
        <p:nvPicPr>
          <p:cNvPr descr="image.png" id="375" name="Google Shape;375;p34"/>
          <p:cNvPicPr preferRelativeResize="0"/>
          <p:nvPr/>
        </p:nvPicPr>
        <p:blipFill rotWithShape="1">
          <a:blip r:embed="rId7">
            <a:alphaModFix/>
          </a:blip>
          <a:srcRect b="0" l="0" r="0" t="0"/>
          <a:stretch/>
        </p:blipFill>
        <p:spPr>
          <a:xfrm>
            <a:off x="866775" y="2514600"/>
            <a:ext cx="2901999" cy="561975"/>
          </a:xfrm>
          <a:prstGeom prst="rect">
            <a:avLst/>
          </a:prstGeom>
          <a:noFill/>
          <a:ln>
            <a:noFill/>
          </a:ln>
        </p:spPr>
      </p:pic>
      <p:sp>
        <p:nvSpPr>
          <p:cNvPr id="376" name="Google Shape;376;p34"/>
          <p:cNvSpPr txBox="1"/>
          <p:nvPr/>
        </p:nvSpPr>
        <p:spPr>
          <a:xfrm>
            <a:off x="866775"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Unique Elements</a:t>
            </a:r>
            <a:endParaRPr/>
          </a:p>
        </p:txBody>
      </p:sp>
      <p:sp>
        <p:nvSpPr>
          <p:cNvPr id="377" name="Google Shape;377;p34"/>
          <p:cNvSpPr txBox="1"/>
          <p:nvPr/>
        </p:nvSpPr>
        <p:spPr>
          <a:xfrm>
            <a:off x="866775"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Utilized Pandas functions like .unique() and .value_counts() to identify distinct categories and the distribution of variables within massive text files.</a:t>
            </a:r>
            <a:endParaRPr/>
          </a:p>
        </p:txBody>
      </p:sp>
      <p:pic>
        <p:nvPicPr>
          <p:cNvPr descr="image.png" id="378" name="Google Shape;378;p34"/>
          <p:cNvPicPr preferRelativeResize="0"/>
          <p:nvPr/>
        </p:nvPicPr>
        <p:blipFill rotWithShape="1">
          <a:blip r:embed="rId7">
            <a:alphaModFix/>
          </a:blip>
          <a:srcRect b="0" l="0" r="0" t="0"/>
          <a:stretch/>
        </p:blipFill>
        <p:spPr>
          <a:xfrm>
            <a:off x="4645074" y="2514600"/>
            <a:ext cx="2901999" cy="561975"/>
          </a:xfrm>
          <a:prstGeom prst="rect">
            <a:avLst/>
          </a:prstGeom>
          <a:noFill/>
          <a:ln>
            <a:noFill/>
          </a:ln>
        </p:spPr>
      </p:pic>
      <p:sp>
        <p:nvSpPr>
          <p:cNvPr id="379" name="Google Shape;379;p34"/>
          <p:cNvSpPr txBox="1"/>
          <p:nvPr/>
        </p:nvSpPr>
        <p:spPr>
          <a:xfrm>
            <a:off x="46450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Dropping Data</a:t>
            </a:r>
            <a:endParaRPr/>
          </a:p>
        </p:txBody>
      </p:sp>
      <p:sp>
        <p:nvSpPr>
          <p:cNvPr id="380" name="Google Shape;380;p34"/>
          <p:cNvSpPr txBox="1"/>
          <p:nvPr/>
        </p:nvSpPr>
        <p:spPr>
          <a:xfrm>
            <a:off x="4645074" y="3857625"/>
            <a:ext cx="2901999"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Employed the .drop() method to precisely eliminate irrelevant rows and columns, preventing "noise" from affecting analytical models.</a:t>
            </a:r>
            <a:endParaRPr/>
          </a:p>
        </p:txBody>
      </p:sp>
      <p:pic>
        <p:nvPicPr>
          <p:cNvPr descr="image.png" id="381" name="Google Shape;381;p34"/>
          <p:cNvPicPr preferRelativeResize="0"/>
          <p:nvPr/>
        </p:nvPicPr>
        <p:blipFill rotWithShape="1">
          <a:blip r:embed="rId7">
            <a:alphaModFix/>
          </a:blip>
          <a:srcRect b="0" l="0" r="0" t="0"/>
          <a:stretch/>
        </p:blipFill>
        <p:spPr>
          <a:xfrm>
            <a:off x="8423374" y="2514600"/>
            <a:ext cx="2901999" cy="561975"/>
          </a:xfrm>
          <a:prstGeom prst="rect">
            <a:avLst/>
          </a:prstGeom>
          <a:noFill/>
          <a:ln>
            <a:noFill/>
          </a:ln>
        </p:spPr>
      </p:pic>
      <p:sp>
        <p:nvSpPr>
          <p:cNvPr id="382" name="Google Shape;382;p34"/>
          <p:cNvSpPr txBox="1"/>
          <p:nvPr/>
        </p:nvSpPr>
        <p:spPr>
          <a:xfrm>
            <a:off x="8423374" y="3314700"/>
            <a:ext cx="30470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Conditional Filtering</a:t>
            </a:r>
            <a:endParaRPr/>
          </a:p>
        </p:txBody>
      </p:sp>
      <p:sp>
        <p:nvSpPr>
          <p:cNvPr id="383" name="Google Shape;383;p34"/>
          <p:cNvSpPr txBox="1"/>
          <p:nvPr/>
        </p:nvSpPr>
        <p:spPr>
          <a:xfrm>
            <a:off x="8423374" y="3857625"/>
            <a:ext cx="2901999"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Applied complex boolean masking to show specific elements based on multi-layered criteria, isolating the exact subsets of data required for reporting.</a:t>
            </a:r>
            <a:endParaRPr/>
          </a:p>
        </p:txBody>
      </p:sp>
      <p:pic>
        <p:nvPicPr>
          <p:cNvPr descr="image.png" id="384" name="Google Shape;384;p34"/>
          <p:cNvPicPr preferRelativeResize="0"/>
          <p:nvPr/>
        </p:nvPicPr>
        <p:blipFill rotWithShape="1">
          <a:blip r:embed="rId8">
            <a:alphaModFix/>
          </a:blip>
          <a:srcRect b="0" l="0" r="0" t="0"/>
          <a:stretch/>
        </p:blipFill>
        <p:spPr>
          <a:xfrm>
            <a:off x="866775" y="2562225"/>
            <a:ext cx="457200" cy="457200"/>
          </a:xfrm>
          <a:prstGeom prst="rect">
            <a:avLst/>
          </a:prstGeom>
          <a:noFill/>
          <a:ln>
            <a:noFill/>
          </a:ln>
        </p:spPr>
      </p:pic>
      <p:pic>
        <p:nvPicPr>
          <p:cNvPr descr="image.png" id="385" name="Google Shape;385;p34"/>
          <p:cNvPicPr preferRelativeResize="0"/>
          <p:nvPr/>
        </p:nvPicPr>
        <p:blipFill rotWithShape="1">
          <a:blip r:embed="rId9">
            <a:alphaModFix/>
          </a:blip>
          <a:srcRect b="0" l="0" r="0" t="0"/>
          <a:stretch/>
        </p:blipFill>
        <p:spPr>
          <a:xfrm>
            <a:off x="4645074" y="2562225"/>
            <a:ext cx="514350" cy="457200"/>
          </a:xfrm>
          <a:prstGeom prst="rect">
            <a:avLst/>
          </a:prstGeom>
          <a:noFill/>
          <a:ln>
            <a:noFill/>
          </a:ln>
        </p:spPr>
      </p:pic>
      <p:pic>
        <p:nvPicPr>
          <p:cNvPr descr="image.png" id="386" name="Google Shape;386;p34"/>
          <p:cNvPicPr preferRelativeResize="0"/>
          <p:nvPr/>
        </p:nvPicPr>
        <p:blipFill rotWithShape="1">
          <a:blip r:embed="rId10">
            <a:alphaModFix/>
          </a:blip>
          <a:srcRect b="0" l="0" r="0" t="0"/>
          <a:stretch/>
        </p:blipFill>
        <p:spPr>
          <a:xfrm>
            <a:off x="8423374" y="2562225"/>
            <a:ext cx="457200" cy="457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image.png" id="391" name="Google Shape;391;p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92" name="Google Shape;392;p35"/>
          <p:cNvSpPr txBox="1"/>
          <p:nvPr/>
        </p:nvSpPr>
        <p:spPr>
          <a:xfrm>
            <a:off x="4810839" y="3012727"/>
            <a:ext cx="2570321"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6</a:t>
            </a:r>
            <a:endParaRPr/>
          </a:p>
        </p:txBody>
      </p:sp>
      <p:sp>
        <p:nvSpPr>
          <p:cNvPr id="393" name="Google Shape;393;p35"/>
          <p:cNvSpPr txBox="1"/>
          <p:nvPr/>
        </p:nvSpPr>
        <p:spPr>
          <a:xfrm>
            <a:off x="4171950" y="4108102"/>
            <a:ext cx="38481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Business Intelligence with Power BI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descr="image.png" id="398" name="Google Shape;398;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9" name="Google Shape;399;p36"/>
          <p:cNvPicPr preferRelativeResize="0"/>
          <p:nvPr/>
        </p:nvPicPr>
        <p:blipFill rotWithShape="1">
          <a:blip r:embed="rId4">
            <a:alphaModFix/>
          </a:blip>
          <a:srcRect b="0" l="0" r="0" t="0"/>
          <a:stretch/>
        </p:blipFill>
        <p:spPr>
          <a:xfrm>
            <a:off x="6286500" y="1871662"/>
            <a:ext cx="5334000" cy="4000500"/>
          </a:xfrm>
          <a:prstGeom prst="rect">
            <a:avLst/>
          </a:prstGeom>
          <a:noFill/>
          <a:ln>
            <a:noFill/>
          </a:ln>
        </p:spPr>
      </p:pic>
      <p:sp>
        <p:nvSpPr>
          <p:cNvPr id="400" name="Google Shape;400;p36"/>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Power BI &amp; Text Files</a:t>
            </a:r>
            <a:endParaRPr/>
          </a:p>
        </p:txBody>
      </p:sp>
      <p:sp>
        <p:nvSpPr>
          <p:cNvPr id="401" name="Google Shape;401;p36"/>
          <p:cNvSpPr txBox="1"/>
          <p:nvPr/>
        </p:nvSpPr>
        <p:spPr>
          <a:xfrm>
            <a:off x="857250" y="1871662"/>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Connecting Data:</a:t>
            </a:r>
            <a:r>
              <a:rPr b="0" i="0" lang="en-US" sz="1350" u="none" cap="none" strike="noStrike">
                <a:solidFill>
                  <a:srgbClr val="CBD5E1"/>
                </a:solidFill>
                <a:latin typeface="Inter"/>
                <a:ea typeface="Inter"/>
                <a:cs typeface="Inter"/>
                <a:sym typeface="Inter"/>
              </a:rPr>
              <a:t> Imported raw text files directly into Power Query for advanced shaping and formatting.</a:t>
            </a:r>
            <a:endParaRPr/>
          </a:p>
        </p:txBody>
      </p:sp>
      <p:sp>
        <p:nvSpPr>
          <p:cNvPr id="402" name="Google Shape;402;p36"/>
          <p:cNvSpPr txBox="1"/>
          <p:nvPr/>
        </p:nvSpPr>
        <p:spPr>
          <a:xfrm>
            <a:off x="857250" y="2610742"/>
            <a:ext cx="504825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Separating Data:</a:t>
            </a:r>
            <a:r>
              <a:rPr b="0" i="0" lang="en-US" sz="1350" u="none" cap="none" strike="noStrike">
                <a:solidFill>
                  <a:srgbClr val="CBD5E1"/>
                </a:solidFill>
                <a:latin typeface="Inter"/>
                <a:ea typeface="Inter"/>
                <a:cs typeface="Inter"/>
                <a:sym typeface="Inter"/>
              </a:rPr>
              <a:t> Executed complex delimiter-based splits to cleanly separate tangled rows and columns from unstructured text datasets.</a:t>
            </a:r>
            <a:endParaRPr/>
          </a:p>
        </p:txBody>
      </p:sp>
      <p:sp>
        <p:nvSpPr>
          <p:cNvPr id="403" name="Google Shape;403;p36"/>
          <p:cNvSpPr txBox="1"/>
          <p:nvPr/>
        </p:nvSpPr>
        <p:spPr>
          <a:xfrm>
            <a:off x="857250" y="3624113"/>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Visual Modeling:</a:t>
            </a:r>
            <a:r>
              <a:rPr b="0" i="0" lang="en-US" sz="1350" u="none" cap="none" strike="noStrike">
                <a:solidFill>
                  <a:srgbClr val="CBD5E1"/>
                </a:solidFill>
                <a:latin typeface="Inter"/>
                <a:ea typeface="Inter"/>
                <a:cs typeface="Inter"/>
                <a:sym typeface="Inter"/>
              </a:rPr>
              <a:t> Transformed flat tables into dynamic relationships, creating an interactive model.</a:t>
            </a:r>
            <a:endParaRPr/>
          </a:p>
        </p:txBody>
      </p:sp>
      <p:sp>
        <p:nvSpPr>
          <p:cNvPr id="404" name="Google Shape;404;p36"/>
          <p:cNvSpPr txBox="1"/>
          <p:nvPr/>
        </p:nvSpPr>
        <p:spPr>
          <a:xfrm>
            <a:off x="857250" y="4363194"/>
            <a:ext cx="50482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Actionable Insights:</a:t>
            </a:r>
            <a:r>
              <a:rPr b="0" i="0" lang="en-US" sz="1350" u="none" cap="none" strike="noStrike">
                <a:solidFill>
                  <a:srgbClr val="CBD5E1"/>
                </a:solidFill>
                <a:latin typeface="Inter"/>
                <a:ea typeface="Inter"/>
                <a:cs typeface="Inter"/>
                <a:sym typeface="Inter"/>
              </a:rPr>
              <a:t> Built DAX measures to aggregate data and designed visually compelling dashboards.</a:t>
            </a:r>
            <a:endParaRPr/>
          </a:p>
        </p:txBody>
      </p:sp>
      <p:pic>
        <p:nvPicPr>
          <p:cNvPr descr="image.png" id="405" name="Google Shape;405;p36"/>
          <p:cNvPicPr preferRelativeResize="0"/>
          <p:nvPr/>
        </p:nvPicPr>
        <p:blipFill rotWithShape="1">
          <a:blip r:embed="rId5">
            <a:alphaModFix/>
          </a:blip>
          <a:srcRect b="0" l="0" r="0" t="0"/>
          <a:stretch/>
        </p:blipFill>
        <p:spPr>
          <a:xfrm>
            <a:off x="6296025" y="1881187"/>
            <a:ext cx="5314950" cy="3981450"/>
          </a:xfrm>
          <a:prstGeom prst="rect">
            <a:avLst/>
          </a:prstGeom>
          <a:noFill/>
          <a:ln>
            <a:noFill/>
          </a:ln>
        </p:spPr>
      </p:pic>
      <p:sp>
        <p:nvSpPr>
          <p:cNvPr id="406" name="Google Shape;406;p36"/>
          <p:cNvSpPr txBox="1"/>
          <p:nvPr/>
        </p:nvSpPr>
        <p:spPr>
          <a:xfrm>
            <a:off x="571500" y="185261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407" name="Google Shape;407;p36"/>
          <p:cNvSpPr txBox="1"/>
          <p:nvPr/>
        </p:nvSpPr>
        <p:spPr>
          <a:xfrm>
            <a:off x="571500" y="2591692"/>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408" name="Google Shape;408;p36"/>
          <p:cNvSpPr txBox="1"/>
          <p:nvPr/>
        </p:nvSpPr>
        <p:spPr>
          <a:xfrm>
            <a:off x="571500" y="360506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
        <p:nvSpPr>
          <p:cNvPr id="409" name="Google Shape;409;p36"/>
          <p:cNvSpPr txBox="1"/>
          <p:nvPr/>
        </p:nvSpPr>
        <p:spPr>
          <a:xfrm>
            <a:off x="571500" y="4344144"/>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38BDF8"/>
                </a:solidFill>
                <a:latin typeface="Inter"/>
                <a:ea typeface="Inter"/>
                <a:cs typeface="Inter"/>
                <a:sym typeface="Inter"/>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descr="image.png" id="414" name="Google Shape;414;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15" name="Google Shape;415;p37"/>
          <p:cNvPicPr preferRelativeResize="0"/>
          <p:nvPr/>
        </p:nvPicPr>
        <p:blipFill rotWithShape="1">
          <a:blip r:embed="rId4">
            <a:alphaModFix/>
          </a:blip>
          <a:srcRect b="0" l="0" r="0" t="0"/>
          <a:stretch/>
        </p:blipFill>
        <p:spPr>
          <a:xfrm>
            <a:off x="571500" y="2334666"/>
            <a:ext cx="5334000" cy="3074491"/>
          </a:xfrm>
          <a:prstGeom prst="rect">
            <a:avLst/>
          </a:prstGeom>
          <a:noFill/>
          <a:ln>
            <a:noFill/>
          </a:ln>
        </p:spPr>
      </p:pic>
      <p:pic>
        <p:nvPicPr>
          <p:cNvPr descr="image.png" id="416" name="Google Shape;416;p37"/>
          <p:cNvPicPr preferRelativeResize="0"/>
          <p:nvPr/>
        </p:nvPicPr>
        <p:blipFill rotWithShape="1">
          <a:blip r:embed="rId5">
            <a:alphaModFix/>
          </a:blip>
          <a:srcRect b="0" l="0" r="0" t="0"/>
          <a:stretch/>
        </p:blipFill>
        <p:spPr>
          <a:xfrm>
            <a:off x="6286500" y="2334666"/>
            <a:ext cx="5334000" cy="3074491"/>
          </a:xfrm>
          <a:prstGeom prst="rect">
            <a:avLst/>
          </a:prstGeom>
          <a:noFill/>
          <a:ln>
            <a:noFill/>
          </a:ln>
        </p:spPr>
      </p:pic>
      <p:sp>
        <p:nvSpPr>
          <p:cNvPr id="417" name="Google Shape;417;p37"/>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Power BI Features &amp; Advantages</a:t>
            </a:r>
            <a:endParaRPr/>
          </a:p>
        </p:txBody>
      </p:sp>
      <p:sp>
        <p:nvSpPr>
          <p:cNvPr id="418" name="Google Shape;418;p37"/>
          <p:cNvSpPr txBox="1"/>
          <p:nvPr/>
        </p:nvSpPr>
        <p:spPr>
          <a:xfrm>
            <a:off x="962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Top Features</a:t>
            </a:r>
            <a:endParaRPr/>
          </a:p>
        </p:txBody>
      </p:sp>
      <p:sp>
        <p:nvSpPr>
          <p:cNvPr id="419" name="Google Shape;419;p37"/>
          <p:cNvSpPr txBox="1"/>
          <p:nvPr/>
        </p:nvSpPr>
        <p:spPr>
          <a:xfrm>
            <a:off x="962025" y="3372891"/>
            <a:ext cx="4552950" cy="16457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Power BI boasts seamless integration with almost any data source. It utilizes the powerful Power Query M formula language for deep ETL (Extract, Transform, Load) processes. Its drag-and-drop canvas allows for rapid deployment of interactive maps, charts, and KPI matrices.</a:t>
            </a:r>
            <a:endParaRPr/>
          </a:p>
        </p:txBody>
      </p:sp>
      <p:sp>
        <p:nvSpPr>
          <p:cNvPr id="420" name="Google Shape;420;p37"/>
          <p:cNvSpPr txBox="1"/>
          <p:nvPr/>
        </p:nvSpPr>
        <p:spPr>
          <a:xfrm>
            <a:off x="6677025" y="2725191"/>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Business Advantages</a:t>
            </a:r>
            <a:endParaRPr/>
          </a:p>
        </p:txBody>
      </p:sp>
      <p:sp>
        <p:nvSpPr>
          <p:cNvPr id="421" name="Google Shape;421;p37"/>
          <p:cNvSpPr txBox="1"/>
          <p:nvPr/>
        </p:nvSpPr>
        <p:spPr>
          <a:xfrm>
            <a:off x="6677025" y="3372891"/>
            <a:ext cx="455295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It acts as the bridge between technical data processing and business stakeholders. Instead of showing raw Python outputs, Power BI presents data visually, enabling non-technical users to interact, drill down into metrics, and make data-driven decisions instantly.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descr="image.png" id="426" name="Google Shape;426;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27" name="Google Shape;427;p38"/>
          <p:cNvSpPr txBox="1"/>
          <p:nvPr/>
        </p:nvSpPr>
        <p:spPr>
          <a:xfrm>
            <a:off x="4835842" y="3012727"/>
            <a:ext cx="2520315" cy="904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8FAFC"/>
                </a:solidFill>
                <a:latin typeface="Poppins"/>
                <a:ea typeface="Poppins"/>
                <a:cs typeface="Poppins"/>
                <a:sym typeface="Poppins"/>
              </a:rPr>
              <a:t>Phase 7</a:t>
            </a:r>
            <a:endParaRPr/>
          </a:p>
        </p:txBody>
      </p:sp>
      <p:sp>
        <p:nvSpPr>
          <p:cNvPr id="428" name="Google Shape;428;p38"/>
          <p:cNvSpPr txBox="1"/>
          <p:nvPr/>
        </p:nvSpPr>
        <p:spPr>
          <a:xfrm>
            <a:off x="4543425" y="4108102"/>
            <a:ext cx="31051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Capstone Project: J.A.R.V.I.S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image.png" id="433" name="Google Shape;433;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34" name="Google Shape;434;p39"/>
          <p:cNvSpPr txBox="1"/>
          <p:nvPr/>
        </p:nvSpPr>
        <p:spPr>
          <a:xfrm>
            <a:off x="571500" y="571500"/>
            <a:ext cx="5550693"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What is J.A.R.V.I.S?</a:t>
            </a:r>
            <a:endParaRPr/>
          </a:p>
        </p:txBody>
      </p:sp>
      <p:pic>
        <p:nvPicPr>
          <p:cNvPr descr="image.png" id="435" name="Google Shape;435;p39"/>
          <p:cNvPicPr preferRelativeResize="0"/>
          <p:nvPr/>
        </p:nvPicPr>
        <p:blipFill rotWithShape="1">
          <a:blip r:embed="rId4">
            <a:alphaModFix/>
          </a:blip>
          <a:srcRect b="0" l="0" r="0" t="0"/>
          <a:stretch/>
        </p:blipFill>
        <p:spPr>
          <a:xfrm>
            <a:off x="6334125" y="0"/>
            <a:ext cx="4676775" cy="190500"/>
          </a:xfrm>
          <a:prstGeom prst="rect">
            <a:avLst/>
          </a:prstGeom>
          <a:noFill/>
          <a:ln>
            <a:noFill/>
          </a:ln>
        </p:spPr>
      </p:pic>
      <p:sp>
        <p:nvSpPr>
          <p:cNvPr id="436" name="Google Shape;436;p39"/>
          <p:cNvSpPr txBox="1"/>
          <p:nvPr/>
        </p:nvSpPr>
        <p:spPr>
          <a:xfrm>
            <a:off x="571500" y="2667000"/>
            <a:ext cx="5550693"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38BDF8"/>
                </a:solidFill>
                <a:latin typeface="Poppins"/>
                <a:ea typeface="Poppins"/>
                <a:cs typeface="Poppins"/>
                <a:sym typeface="Poppins"/>
              </a:rPr>
              <a:t>The Automation Core</a:t>
            </a:r>
            <a:endParaRPr/>
          </a:p>
        </p:txBody>
      </p:sp>
      <p:sp>
        <p:nvSpPr>
          <p:cNvPr id="437" name="Google Shape;437;p39"/>
          <p:cNvSpPr txBox="1"/>
          <p:nvPr/>
        </p:nvSpPr>
        <p:spPr>
          <a:xfrm>
            <a:off x="571500" y="3267075"/>
            <a:ext cx="5286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J.A.R.V.I.S is a locally hosted, open-source personal automation bot designed during the internship. It bridges human intent and machine execution using advanced Python scripting, local LLMs, and computer vision to perform highly complex OS-level tasks securely.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descr="image.png" id="442" name="Google Shape;442;p4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43" name="Google Shape;443;p40"/>
          <p:cNvPicPr preferRelativeResize="0"/>
          <p:nvPr/>
        </p:nvPicPr>
        <p:blipFill rotWithShape="1">
          <a:blip r:embed="rId4">
            <a:alphaModFix/>
          </a:blip>
          <a:srcRect b="0" l="0" r="0" t="0"/>
          <a:stretch/>
        </p:blipFill>
        <p:spPr>
          <a:xfrm>
            <a:off x="1333500" y="1783556"/>
            <a:ext cx="9525000" cy="4176712"/>
          </a:xfrm>
          <a:prstGeom prst="rect">
            <a:avLst/>
          </a:prstGeom>
          <a:noFill/>
          <a:ln>
            <a:noFill/>
          </a:ln>
        </p:spPr>
      </p:pic>
      <p:sp>
        <p:nvSpPr>
          <p:cNvPr id="444" name="Google Shape;444;p40"/>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J.A.R.V.I.S Features &amp; Capabilities</a:t>
            </a:r>
            <a:endParaRPr/>
          </a:p>
        </p:txBody>
      </p:sp>
      <p:sp>
        <p:nvSpPr>
          <p:cNvPr id="445" name="Google Shape;445;p40"/>
          <p:cNvSpPr txBox="1"/>
          <p:nvPr/>
        </p:nvSpPr>
        <p:spPr>
          <a:xfrm>
            <a:off x="2295525" y="217408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Local Processing:</a:t>
            </a:r>
            <a:r>
              <a:rPr b="0" i="0" lang="en-US" sz="1650" u="none" cap="none" strike="noStrike">
                <a:solidFill>
                  <a:srgbClr val="CBD5E1"/>
                </a:solidFill>
                <a:latin typeface="Inter"/>
                <a:ea typeface="Inter"/>
                <a:cs typeface="Inter"/>
                <a:sym typeface="Inter"/>
              </a:rPr>
              <a:t> Operates entirely offline using models like Ollama, ensuring zero latency and total data privacy.</a:t>
            </a:r>
            <a:endParaRPr/>
          </a:p>
        </p:txBody>
      </p:sp>
      <p:sp>
        <p:nvSpPr>
          <p:cNvPr id="446" name="Google Shape;446;p40"/>
          <p:cNvSpPr txBox="1"/>
          <p:nvPr/>
        </p:nvSpPr>
        <p:spPr>
          <a:xfrm>
            <a:off x="2295525" y="3082528"/>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Computer Vision:</a:t>
            </a:r>
            <a:r>
              <a:rPr b="0" i="0" lang="en-US" sz="1650" u="none" cap="none" strike="noStrike">
                <a:solidFill>
                  <a:srgbClr val="CBD5E1"/>
                </a:solidFill>
                <a:latin typeface="Inter"/>
                <a:ea typeface="Inter"/>
                <a:cs typeface="Inter"/>
                <a:sym typeface="Inter"/>
              </a:rPr>
              <a:t> Utilizes OpenCV and MediaPipe to translate physical hand gestures into system commands (e.g., volume control).</a:t>
            </a:r>
            <a:endParaRPr/>
          </a:p>
        </p:txBody>
      </p:sp>
      <p:sp>
        <p:nvSpPr>
          <p:cNvPr id="447" name="Google Shape;447;p40"/>
          <p:cNvSpPr txBox="1"/>
          <p:nvPr/>
        </p:nvSpPr>
        <p:spPr>
          <a:xfrm>
            <a:off x="2295525" y="3990975"/>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Health Subsystem:</a:t>
            </a:r>
            <a:r>
              <a:rPr b="0" i="0" lang="en-US" sz="1650" u="none" cap="none" strike="noStrike">
                <a:solidFill>
                  <a:srgbClr val="CBD5E1"/>
                </a:solidFill>
                <a:latin typeface="Inter"/>
                <a:ea typeface="Inter"/>
                <a:cs typeface="Inter"/>
                <a:sym typeface="Inter"/>
              </a:rPr>
              <a:t> A built-in command center that tracks BMI, heart rate, hydration limits, and enforces screen-time rules.</a:t>
            </a:r>
            <a:endParaRPr/>
          </a:p>
        </p:txBody>
      </p:sp>
      <p:sp>
        <p:nvSpPr>
          <p:cNvPr id="448" name="Google Shape;448;p40"/>
          <p:cNvSpPr txBox="1"/>
          <p:nvPr/>
        </p:nvSpPr>
        <p:spPr>
          <a:xfrm>
            <a:off x="2295525" y="4899421"/>
            <a:ext cx="80772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F8FAFC"/>
                </a:solidFill>
                <a:latin typeface="Inter"/>
                <a:ea typeface="Inter"/>
                <a:cs typeface="Inter"/>
                <a:sym typeface="Inter"/>
              </a:rPr>
              <a:t>System Automation:</a:t>
            </a:r>
            <a:r>
              <a:rPr b="0" i="0" lang="en-US" sz="1650" u="none" cap="none" strike="noStrike">
                <a:solidFill>
                  <a:srgbClr val="CBD5E1"/>
                </a:solidFill>
                <a:latin typeface="Inter"/>
                <a:ea typeface="Inter"/>
                <a:cs typeface="Inter"/>
                <a:sym typeface="Inter"/>
              </a:rPr>
              <a:t> Controls OS functions, fetches weather APIs, manages browser states, reads PDFs, and tracks system battery and CPU health.</a:t>
            </a:r>
            <a:endParaRPr/>
          </a:p>
        </p:txBody>
      </p:sp>
      <p:pic>
        <p:nvPicPr>
          <p:cNvPr descr="image.png" id="449" name="Google Shape;449;p40"/>
          <p:cNvPicPr preferRelativeResize="0"/>
          <p:nvPr/>
        </p:nvPicPr>
        <p:blipFill rotWithShape="1">
          <a:blip r:embed="rId5">
            <a:alphaModFix/>
          </a:blip>
          <a:srcRect b="0" l="0" r="0" t="0"/>
          <a:stretch/>
        </p:blipFill>
        <p:spPr>
          <a:xfrm>
            <a:off x="1819275" y="2188368"/>
            <a:ext cx="266700" cy="276225"/>
          </a:xfrm>
          <a:prstGeom prst="rect">
            <a:avLst/>
          </a:prstGeom>
          <a:noFill/>
          <a:ln>
            <a:noFill/>
          </a:ln>
        </p:spPr>
      </p:pic>
      <p:pic>
        <p:nvPicPr>
          <p:cNvPr descr="image.png" id="450" name="Google Shape;450;p40"/>
          <p:cNvPicPr preferRelativeResize="0"/>
          <p:nvPr/>
        </p:nvPicPr>
        <p:blipFill rotWithShape="1">
          <a:blip r:embed="rId6">
            <a:alphaModFix/>
          </a:blip>
          <a:srcRect b="0" l="0" r="0" t="0"/>
          <a:stretch/>
        </p:blipFill>
        <p:spPr>
          <a:xfrm>
            <a:off x="1819275" y="3096815"/>
            <a:ext cx="266700" cy="276225"/>
          </a:xfrm>
          <a:prstGeom prst="rect">
            <a:avLst/>
          </a:prstGeom>
          <a:noFill/>
          <a:ln>
            <a:noFill/>
          </a:ln>
        </p:spPr>
      </p:pic>
      <p:pic>
        <p:nvPicPr>
          <p:cNvPr descr="image.png" id="451" name="Google Shape;451;p40"/>
          <p:cNvPicPr preferRelativeResize="0"/>
          <p:nvPr/>
        </p:nvPicPr>
        <p:blipFill rotWithShape="1">
          <a:blip r:embed="rId7">
            <a:alphaModFix/>
          </a:blip>
          <a:srcRect b="0" l="0" r="0" t="0"/>
          <a:stretch/>
        </p:blipFill>
        <p:spPr>
          <a:xfrm>
            <a:off x="1819275" y="4005262"/>
            <a:ext cx="304800" cy="276225"/>
          </a:xfrm>
          <a:prstGeom prst="rect">
            <a:avLst/>
          </a:prstGeom>
          <a:noFill/>
          <a:ln>
            <a:noFill/>
          </a:ln>
        </p:spPr>
      </p:pic>
      <p:pic>
        <p:nvPicPr>
          <p:cNvPr descr="image.png" id="452" name="Google Shape;452;p40"/>
          <p:cNvPicPr preferRelativeResize="0"/>
          <p:nvPr/>
        </p:nvPicPr>
        <p:blipFill rotWithShape="1">
          <a:blip r:embed="rId8">
            <a:alphaModFix/>
          </a:blip>
          <a:srcRect b="0" l="0" r="0" t="0"/>
          <a:stretch/>
        </p:blipFill>
        <p:spPr>
          <a:xfrm>
            <a:off x="1819275" y="4913709"/>
            <a:ext cx="333375" cy="276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56" name="Shape 456"/>
        <p:cNvGrpSpPr/>
        <p:nvPr/>
      </p:nvGrpSpPr>
      <p:grpSpPr>
        <a:xfrm>
          <a:off x="0" y="0"/>
          <a:ext cx="0" cy="0"/>
          <a:chOff x="0" y="0"/>
          <a:chExt cx="0" cy="0"/>
        </a:xfrm>
      </p:grpSpPr>
      <p:pic>
        <p:nvPicPr>
          <p:cNvPr descr="image.png" id="457" name="Google Shape;457;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8" name="Google Shape;458;p41"/>
          <p:cNvSpPr txBox="1"/>
          <p:nvPr/>
        </p:nvSpPr>
        <p:spPr>
          <a:xfrm>
            <a:off x="3855719" y="2064097"/>
            <a:ext cx="4480500" cy="103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750" u="none" cap="none" strike="noStrike">
                <a:solidFill>
                  <a:srgbClr val="F8FAFC"/>
                </a:solidFill>
                <a:latin typeface="Rajdhani"/>
                <a:ea typeface="Rajdhani"/>
                <a:cs typeface="Rajdhani"/>
                <a:sym typeface="Rajdhani"/>
              </a:rPr>
              <a:t>THANK YOU</a:t>
            </a:r>
            <a:endParaRPr/>
          </a:p>
        </p:txBody>
      </p:sp>
      <p:sp>
        <p:nvSpPr>
          <p:cNvPr id="459" name="Google Shape;459;p41"/>
          <p:cNvSpPr txBox="1"/>
          <p:nvPr/>
        </p:nvSpPr>
        <p:spPr>
          <a:xfrm>
            <a:off x="4714875" y="3197572"/>
            <a:ext cx="27624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For Your Time &amp; Attention</a:t>
            </a:r>
            <a:endParaRPr/>
          </a:p>
        </p:txBody>
      </p:sp>
      <p:sp>
        <p:nvSpPr>
          <p:cNvPr id="460" name="Google Shape;460;p41"/>
          <p:cNvSpPr txBox="1"/>
          <p:nvPr/>
        </p:nvSpPr>
        <p:spPr>
          <a:xfrm>
            <a:off x="3962400" y="4039492"/>
            <a:ext cx="4267200" cy="215400"/>
          </a:xfrm>
          <a:prstGeom prst="rect">
            <a:avLst/>
          </a:prstGeom>
          <a:noFill/>
          <a:ln>
            <a:noFill/>
          </a:ln>
        </p:spPr>
        <p:txBody>
          <a:bodyPr anchorCtr="0" anchor="t" bIns="0" lIns="0" spcFirstLastPara="1" rIns="0" wrap="square" tIns="0">
            <a:spAutoFit/>
          </a:bodyPr>
          <a:lstStyle/>
          <a:p>
            <a:pPr indent="0" lvl="0" marL="0" marR="0" rtl="0" algn="ctr">
              <a:lnSpc>
                <a:spcPct val="165000"/>
              </a:lnSpc>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descr="image.png" id="465" name="Google Shape;465;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66" name="Google Shape;466;p42"/>
          <p:cNvSpPr txBox="1"/>
          <p:nvPr/>
        </p:nvSpPr>
        <p:spPr>
          <a:xfrm>
            <a:off x="571500" y="476250"/>
            <a:ext cx="11601450"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Image Sources</a:t>
            </a:r>
            <a:endParaRPr/>
          </a:p>
        </p:txBody>
      </p:sp>
      <p:sp>
        <p:nvSpPr>
          <p:cNvPr id="467" name="Google Shape;467;p42"/>
          <p:cNvSpPr/>
          <p:nvPr/>
        </p:nvSpPr>
        <p:spPr>
          <a:xfrm>
            <a:off x="571500" y="1362075"/>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42"/>
          <p:cNvSpPr/>
          <p:nvPr/>
        </p:nvSpPr>
        <p:spPr>
          <a:xfrm>
            <a:off x="571500" y="2146845"/>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42"/>
          <p:cNvSpPr/>
          <p:nvPr/>
        </p:nvSpPr>
        <p:spPr>
          <a:xfrm>
            <a:off x="571500" y="3129706"/>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42"/>
          <p:cNvSpPr/>
          <p:nvPr/>
        </p:nvSpPr>
        <p:spPr>
          <a:xfrm>
            <a:off x="571500" y="4112567"/>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42"/>
          <p:cNvSpPr/>
          <p:nvPr/>
        </p:nvSpPr>
        <p:spPr>
          <a:xfrm>
            <a:off x="571500" y="5095428"/>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42"/>
          <p:cNvSpPr/>
          <p:nvPr/>
        </p:nvSpPr>
        <p:spPr>
          <a:xfrm>
            <a:off x="571500" y="21373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42"/>
          <p:cNvSpPr/>
          <p:nvPr/>
        </p:nvSpPr>
        <p:spPr>
          <a:xfrm>
            <a:off x="571500" y="213732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42"/>
          <p:cNvSpPr/>
          <p:nvPr/>
        </p:nvSpPr>
        <p:spPr>
          <a:xfrm>
            <a:off x="571500" y="312018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42"/>
          <p:cNvSpPr/>
          <p:nvPr/>
        </p:nvSpPr>
        <p:spPr>
          <a:xfrm>
            <a:off x="571500" y="3120181"/>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42"/>
          <p:cNvSpPr/>
          <p:nvPr/>
        </p:nvSpPr>
        <p:spPr>
          <a:xfrm>
            <a:off x="571500" y="410304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42"/>
          <p:cNvSpPr/>
          <p:nvPr/>
        </p:nvSpPr>
        <p:spPr>
          <a:xfrm>
            <a:off x="571500" y="4103042"/>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8" name="Google Shape;478;p42"/>
          <p:cNvSpPr/>
          <p:nvPr/>
        </p:nvSpPr>
        <p:spPr>
          <a:xfrm>
            <a:off x="571500" y="508590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42"/>
          <p:cNvSpPr/>
          <p:nvPr/>
        </p:nvSpPr>
        <p:spPr>
          <a:xfrm>
            <a:off x="571500" y="508590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0" name="Google Shape;480;p42"/>
          <p:cNvSpPr/>
          <p:nvPr/>
        </p:nvSpPr>
        <p:spPr>
          <a:xfrm>
            <a:off x="571500" y="606876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42"/>
          <p:cNvSpPr/>
          <p:nvPr/>
        </p:nvSpPr>
        <p:spPr>
          <a:xfrm>
            <a:off x="571500" y="606876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82" name="Google Shape;482;p42"/>
          <p:cNvPicPr preferRelativeResize="0"/>
          <p:nvPr/>
        </p:nvPicPr>
        <p:blipFill rotWithShape="1">
          <a:blip r:embed="rId4">
            <a:alphaModFix/>
          </a:blip>
          <a:srcRect b="0" l="0" r="0" t="0"/>
          <a:stretch/>
        </p:blipFill>
        <p:spPr>
          <a:xfrm>
            <a:off x="571500" y="1511498"/>
            <a:ext cx="1238250" cy="822870"/>
          </a:xfrm>
          <a:prstGeom prst="rect">
            <a:avLst/>
          </a:prstGeom>
          <a:noFill/>
          <a:ln>
            <a:noFill/>
          </a:ln>
        </p:spPr>
      </p:pic>
      <p:sp>
        <p:nvSpPr>
          <p:cNvPr id="483" name="Google Shape;483;p42"/>
          <p:cNvSpPr txBox="1"/>
          <p:nvPr/>
        </p:nvSpPr>
        <p:spPr>
          <a:xfrm>
            <a:off x="1666875" y="1504950"/>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https://images.stockcake.com/public/6/6/8/668e6b3a-ad26-41e8-bd2b-6859a4f097d1_large/glowing-code-syntax-stockcake.jpg</a:t>
            </a:r>
            <a:endParaRPr/>
          </a:p>
        </p:txBody>
      </p:sp>
      <p:sp>
        <p:nvSpPr>
          <p:cNvPr id="484" name="Google Shape;484;p42"/>
          <p:cNvSpPr txBox="1"/>
          <p:nvPr/>
        </p:nvSpPr>
        <p:spPr>
          <a:xfrm>
            <a:off x="1666875" y="1750665"/>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stockcake.com</a:t>
            </a:r>
            <a:endParaRPr/>
          </a:p>
        </p:txBody>
      </p:sp>
      <p:pic>
        <p:nvPicPr>
          <p:cNvPr descr="image.png" id="485" name="Google Shape;485;p42"/>
          <p:cNvPicPr preferRelativeResize="0"/>
          <p:nvPr/>
        </p:nvPicPr>
        <p:blipFill rotWithShape="1">
          <a:blip r:embed="rId5">
            <a:alphaModFix/>
          </a:blip>
          <a:srcRect b="0" l="0" r="0" t="0"/>
          <a:stretch/>
        </p:blipFill>
        <p:spPr>
          <a:xfrm>
            <a:off x="571500" y="2395388"/>
            <a:ext cx="857250" cy="476250"/>
          </a:xfrm>
          <a:prstGeom prst="rect">
            <a:avLst/>
          </a:prstGeom>
          <a:noFill/>
          <a:ln>
            <a:noFill/>
          </a:ln>
        </p:spPr>
      </p:pic>
      <p:sp>
        <p:nvSpPr>
          <p:cNvPr id="486" name="Google Shape;486;p42"/>
          <p:cNvSpPr txBox="1"/>
          <p:nvPr/>
        </p:nvSpPr>
        <p:spPr>
          <a:xfrm>
            <a:off x="1666875" y="2289720"/>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https://elements-resized.envatousercontent.com/elements-video-cover-images/80b99dc8-4964-40cc-9940-2e9288c09106/video_preview/video_preview_0001.jpg?w=500&amp;cf_fit=cover&amp;q=85&amp;format=auto&amp;s=e6807ff756ed432640fb2336d5384c9ac56d301b293b10c685ac405c8e902ddd</a:t>
            </a:r>
            <a:endParaRPr/>
          </a:p>
        </p:txBody>
      </p:sp>
      <p:sp>
        <p:nvSpPr>
          <p:cNvPr id="487" name="Google Shape;487;p42"/>
          <p:cNvSpPr txBox="1"/>
          <p:nvPr/>
        </p:nvSpPr>
        <p:spPr>
          <a:xfrm>
            <a:off x="1666875" y="2733526"/>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elements.envato.com</a:t>
            </a:r>
            <a:endParaRPr/>
          </a:p>
        </p:txBody>
      </p:sp>
      <p:pic>
        <p:nvPicPr>
          <p:cNvPr descr="image.png" id="488" name="Google Shape;488;p42"/>
          <p:cNvPicPr preferRelativeResize="0"/>
          <p:nvPr/>
        </p:nvPicPr>
        <p:blipFill rotWithShape="1">
          <a:blip r:embed="rId6">
            <a:alphaModFix/>
          </a:blip>
          <a:srcRect b="0" l="0" r="0" t="0"/>
          <a:stretch/>
        </p:blipFill>
        <p:spPr>
          <a:xfrm>
            <a:off x="571500" y="3378249"/>
            <a:ext cx="857250" cy="476250"/>
          </a:xfrm>
          <a:prstGeom prst="rect">
            <a:avLst/>
          </a:prstGeom>
          <a:noFill/>
          <a:ln>
            <a:noFill/>
          </a:ln>
        </p:spPr>
      </p:pic>
      <p:sp>
        <p:nvSpPr>
          <p:cNvPr id="489" name="Google Shape;489;p42"/>
          <p:cNvSpPr txBox="1"/>
          <p:nvPr/>
        </p:nvSpPr>
        <p:spPr>
          <a:xfrm>
            <a:off x="1666875" y="3272581"/>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static.vecteezy.com/system/resources/previews/070/084/579/non_2x/futuristic-data-analytics-digital-technology-concept-with-businessman-hand-touching-virtual-dashboard-interface-symbolizing-big-data-artificial-intelligence-business-growth-smart-decision-making-free-photo.jpg</a:t>
            </a:r>
            <a:endParaRPr/>
          </a:p>
        </p:txBody>
      </p:sp>
      <p:sp>
        <p:nvSpPr>
          <p:cNvPr id="490" name="Google Shape;490;p42"/>
          <p:cNvSpPr txBox="1"/>
          <p:nvPr/>
        </p:nvSpPr>
        <p:spPr>
          <a:xfrm>
            <a:off x="1666875" y="371638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www.vecteezy.com</a:t>
            </a:r>
            <a:endParaRPr/>
          </a:p>
        </p:txBody>
      </p:sp>
      <p:pic>
        <p:nvPicPr>
          <p:cNvPr descr="image.png" id="491" name="Google Shape;491;p42"/>
          <p:cNvPicPr preferRelativeResize="0"/>
          <p:nvPr/>
        </p:nvPicPr>
        <p:blipFill rotWithShape="1">
          <a:blip r:embed="rId7">
            <a:alphaModFix/>
          </a:blip>
          <a:srcRect b="0" l="0" r="0" t="0"/>
          <a:stretch/>
        </p:blipFill>
        <p:spPr>
          <a:xfrm>
            <a:off x="571500" y="4361110"/>
            <a:ext cx="857250" cy="476250"/>
          </a:xfrm>
          <a:prstGeom prst="rect">
            <a:avLst/>
          </a:prstGeom>
          <a:noFill/>
          <a:ln>
            <a:noFill/>
          </a:ln>
        </p:spPr>
      </p:pic>
      <p:sp>
        <p:nvSpPr>
          <p:cNvPr id="492" name="Google Shape;492;p42"/>
          <p:cNvSpPr txBox="1"/>
          <p:nvPr/>
        </p:nvSpPr>
        <p:spPr>
          <a:xfrm>
            <a:off x="1666875" y="4255442"/>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https://static.vecteezy.com/system/resources/thumbnails/059/137/027/small/wonderful-classic-a-futuristic-data-center-with-rows-of-servers-and-glowing-cables-illuminated-by-cool-blue-light-isometric-style-4k-png.png</a:t>
            </a:r>
            <a:endParaRPr/>
          </a:p>
        </p:txBody>
      </p:sp>
      <p:sp>
        <p:nvSpPr>
          <p:cNvPr id="493" name="Google Shape;493;p42"/>
          <p:cNvSpPr txBox="1"/>
          <p:nvPr/>
        </p:nvSpPr>
        <p:spPr>
          <a:xfrm>
            <a:off x="1666875" y="469924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www.vecteezy.com</a:t>
            </a:r>
            <a:endParaRPr/>
          </a:p>
        </p:txBody>
      </p:sp>
      <p:pic>
        <p:nvPicPr>
          <p:cNvPr descr="image.png" id="494" name="Google Shape;494;p42"/>
          <p:cNvPicPr preferRelativeResize="0"/>
          <p:nvPr/>
        </p:nvPicPr>
        <p:blipFill rotWithShape="1">
          <a:blip r:embed="rId8">
            <a:alphaModFix/>
          </a:blip>
          <a:srcRect b="0" l="0" r="0" t="0"/>
          <a:stretch/>
        </p:blipFill>
        <p:spPr>
          <a:xfrm>
            <a:off x="571500" y="5343971"/>
            <a:ext cx="857250" cy="476250"/>
          </a:xfrm>
          <a:prstGeom prst="rect">
            <a:avLst/>
          </a:prstGeom>
          <a:noFill/>
          <a:ln>
            <a:noFill/>
          </a:ln>
        </p:spPr>
      </p:pic>
      <p:sp>
        <p:nvSpPr>
          <p:cNvPr id="495" name="Google Shape;495;p42"/>
          <p:cNvSpPr txBox="1"/>
          <p:nvPr/>
        </p:nvSpPr>
        <p:spPr>
          <a:xfrm>
            <a:off x="1666875" y="5238303"/>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https://png.pngtree.com/thumb_back/fw800/background/20260122/pngtree-dark-background-with-graphs-and-charts-data-visualization-business-analytics-image_20974316.webp</a:t>
            </a:r>
            <a:endParaRPr/>
          </a:p>
        </p:txBody>
      </p:sp>
      <p:sp>
        <p:nvSpPr>
          <p:cNvPr id="496" name="Google Shape;496;p42"/>
          <p:cNvSpPr txBox="1"/>
          <p:nvPr/>
        </p:nvSpPr>
        <p:spPr>
          <a:xfrm>
            <a:off x="1666875" y="568210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pngtree.com</a:t>
            </a:r>
            <a:endParaRPr/>
          </a:p>
        </p:txBody>
      </p:sp>
      <p:pic>
        <p:nvPicPr>
          <p:cNvPr descr="image.png" id="497" name="Google Shape;497;p42"/>
          <p:cNvPicPr preferRelativeResize="0"/>
          <p:nvPr/>
        </p:nvPicPr>
        <p:blipFill rotWithShape="1">
          <a:blip r:embed="rId9">
            <a:alphaModFix/>
          </a:blip>
          <a:srcRect b="0" l="0" r="0" t="0"/>
          <a:stretch/>
        </p:blipFill>
        <p:spPr>
          <a:xfrm>
            <a:off x="571500" y="6227712"/>
            <a:ext cx="857250" cy="476250"/>
          </a:xfrm>
          <a:prstGeom prst="rect">
            <a:avLst/>
          </a:prstGeom>
          <a:noFill/>
          <a:ln>
            <a:noFill/>
          </a:ln>
        </p:spPr>
      </p:pic>
      <p:sp>
        <p:nvSpPr>
          <p:cNvPr id="498" name="Google Shape;498;p42"/>
          <p:cNvSpPr txBox="1"/>
          <p:nvPr/>
        </p:nvSpPr>
        <p:spPr>
          <a:xfrm>
            <a:off x="1666875" y="6221164"/>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https://png.pngtree.com/background/20250520/original/pngtree-futuristic-high-tech-eye-with-a-glowing-blue-iris-and-digital-picture-image_16533304.jpg</a:t>
            </a:r>
            <a:endParaRPr/>
          </a:p>
        </p:txBody>
      </p:sp>
      <p:sp>
        <p:nvSpPr>
          <p:cNvPr id="499" name="Google Shape;499;p42"/>
          <p:cNvSpPr txBox="1"/>
          <p:nvPr/>
        </p:nvSpPr>
        <p:spPr>
          <a:xfrm>
            <a:off x="1666875" y="6466879"/>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pngtree.com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