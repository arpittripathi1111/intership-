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0B3E87-A6BE-4E5F-8E28-8096220C9CE2}">
  <a:tblStyle styleId="{E70B3E87-A6BE-4E5F-8E28-8096220C9C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oppins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Lato-regular.fntdata"/><Relationship Id="rId16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9465" y="1143000"/>
            <a:ext cx="4221509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38487"/>
            <a:ext cx="633219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81025" y="1214437"/>
            <a:ext cx="66487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2357437"/>
            <a:ext cx="63321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Foundations &amp; Data Science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3424237"/>
            <a:ext cx="5998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Arpit Tripathi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3976687"/>
            <a:ext cx="57130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8A6FF"/>
                </a:solidFill>
                <a:latin typeface="Lato"/>
                <a:ea typeface="Lato"/>
                <a:cs typeface="Lato"/>
                <a:sym typeface="Lato"/>
              </a:rPr>
              <a:t>CSE B.Tech III Year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4281487"/>
            <a:ext cx="57130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Roll No: 2401220100075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4586287"/>
            <a:ext cx="57130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Email: Arpittripathi4115@gmail.com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4986337"/>
            <a:ext cx="57130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Shri Ramswaroop Memorial College of Engineering &amp; Management</a:t>
            </a:r>
            <a:endParaRPr/>
          </a:p>
        </p:txBody>
      </p:sp>
      <p:pic>
        <p:nvPicPr>
          <p:cNvPr id="94" name="Google Shape;94;p13" title="Arpit_Tripathi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4638" y="2357425"/>
            <a:ext cx="180022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095500" y="2257425"/>
            <a:ext cx="80010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Language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524500" y="3448050"/>
            <a:ext cx="11430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286000" y="377190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Python is an interpreted, high-level programming language with dynamic semantics, optimized for developer productivity.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24112"/>
            <a:ext cx="34861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24112"/>
            <a:ext cx="34861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24112"/>
            <a:ext cx="34861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76300" y="336708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Poppins"/>
                <a:ea typeface="Poppins"/>
                <a:cs typeface="Poppins"/>
                <a:sym typeface="Poppins"/>
              </a:rPr>
              <a:t>Simplicity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76300" y="3967162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Readability counts. Python's clear syntax mimics English, reducing the cost of program maintenance.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8200" y="336708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Poppins"/>
                <a:ea typeface="Poppins"/>
                <a:cs typeface="Poppins"/>
                <a:sym typeface="Poppins"/>
              </a:rPr>
              <a:t>Interpreted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8200" y="3967162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No compilation needed. Code is executed directly, making it ideal for rapid prototyping and interactive testing.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20100" y="336708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Poppins"/>
                <a:ea typeface="Poppins"/>
                <a:cs typeface="Poppins"/>
                <a:sym typeface="Poppins"/>
              </a:rPr>
              <a:t>Dynamic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0100" y="3967162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Variable types are determined at runtime, allowing for flexible coding patterns and easier data manipulation.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7574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Core Characteristics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71525" y="1795462"/>
            <a:ext cx="4990623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The Ecosystem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81025" y="1795462"/>
            <a:ext cx="57150" cy="619125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2605087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Python's dominance stems from its vast standard library and powerful modules for specialized engineering fields: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15049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345281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AI:</a:t>
            </a: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 TensorFlow, PyTorch, Scikit-learn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1025" y="385286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 Pandas, NumPy, Matplotlib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425291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Web:</a:t>
            </a: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 Django, Flask, FastAPI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465296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Scripting:</a:t>
            </a: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 OS automation &amp; sys-admin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95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957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95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695825"/>
            <a:ext cx="1905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47962"/>
            <a:ext cx="34861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747962"/>
            <a:ext cx="34861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747962"/>
            <a:ext cx="34861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76300" y="304323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Poppins"/>
                <a:ea typeface="Poppins"/>
                <a:cs typeface="Poppins"/>
                <a:sym typeface="Poppins"/>
              </a:rPr>
              <a:t>DataFrame (2D)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76300" y="3643312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The core object in Pandas. It behaves like an Excel table, holding rows and columns of heterogeneous data with powerful indexing capabilities.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48200" y="304323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Poppins"/>
                <a:ea typeface="Poppins"/>
                <a:cs typeface="Poppins"/>
                <a:sym typeface="Poppins"/>
              </a:rPr>
              <a:t>Series (1D)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8200" y="3643312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 labeled array that serves as a single column. It provides O(1) lookup time for labels, outperforming standard Python lists.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20100" y="304323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29922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20100" y="3643312"/>
            <a:ext cx="2895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Built on top of NumPy and optimized C code, it handles millions of rows of spreadsheet data with minimal latency.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Pandas: The Data Engine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8"/>
          <p:cNvGraphicFramePr/>
          <p:nvPr/>
        </p:nvGraphicFramePr>
        <p:xfrm>
          <a:off x="581025" y="2281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{E70B3E87-A6BE-4E5F-8E28-8096220C9CE2}</a:tableStyleId>
              </a:tblPr>
              <a:tblGrid>
                <a:gridCol w="1674900"/>
                <a:gridCol w="4248600"/>
                <a:gridCol w="5106450"/>
              </a:tblGrid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58A6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58A6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Command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58A6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Engineering Application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Load Excel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pd.read_excel('log.xlsx')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Converting log files into programmable dataframes.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Conditionals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df[df['Score'] &gt; 90]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Automated filtering of pass/fail criteria in sheets.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Vector Math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df['Net'] = df['A'] - df['B']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High-speed calculations across millions of entries.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df.to_excel('final.xlsx')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8B94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Generating final reports with processed 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8"/>
          <p:cNvSpPr/>
          <p:nvPr/>
        </p:nvSpPr>
        <p:spPr>
          <a:xfrm>
            <a:off x="581025" y="2971800"/>
            <a:ext cx="167491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255936" y="2971800"/>
            <a:ext cx="42485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504533" y="2971800"/>
            <a:ext cx="510644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81025" y="3619500"/>
            <a:ext cx="167491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255936" y="3619500"/>
            <a:ext cx="42485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504533" y="3619500"/>
            <a:ext cx="510644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81025" y="4267200"/>
            <a:ext cx="167491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2255936" y="4267200"/>
            <a:ext cx="42485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504533" y="4267200"/>
            <a:ext cx="510644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1025" y="4914900"/>
            <a:ext cx="167491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255936" y="4914900"/>
            <a:ext cx="42485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504533" y="4914900"/>
            <a:ext cx="510644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81025" y="5562600"/>
            <a:ext cx="167491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255936" y="5562600"/>
            <a:ext cx="42485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504533" y="5562600"/>
            <a:ext cx="510644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Data Wrangling Operations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